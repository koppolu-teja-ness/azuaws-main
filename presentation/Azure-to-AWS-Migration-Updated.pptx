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I'm presenting an agentic pipeline that migrates Azure Bicep infrastructure-as-code to AWS CloudFormation. The key idea: wrap deterministic code and human approval around a single LLM reasoning step, so migrations are safe and auditable. I'll cover the business problem, how we're different, the architecture, safety, and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move from Azure to AWS for real reasons: cost optimization, mergers and acquisitions, avoiding vendor lock-in, and customer or compliance mandates. The blocker is the infrastructure-as-code rewrite — weeks of manual work per workload, expensive specialist engineers, and real risk of outages and secret leaks. Our goal is to cut that time, cost, and risk with an automated, repeatable pipeline.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Technically, rewriting Bicep into CloudFormation by hand is slow and error-prone, leaves no audit trail, and can introduce security gaps. You might ask: why not just have an LLM write the template? Because one-shot generation is unreliable and unauditable — it can hallucinate syntax and leak secrets with no record of its decisions. So we take a structured approach instead.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is seven agents working together in a LangGraph state machine. Deterministic code handles parsing, rendering, and deploying; a single LLM call does only the reasoning; and humans approve the important decisions. Three pillars: it's auditable because the LLM emits a structured plan, safe because humans stay in control, and reliable because it self-corrects on validation failures.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genuinely different from existing tools. Former2 reverse-engineers a live AWS account, cf-terraform converts within the same provider, and Azure Migrate moves workloads within Azure. None do source-code-level, cross-cloud translation. Our unique combination is the deterministic-render / LLM-reason split, security guardrails, secret protection, and a self-extending knowledge base — purpose-built for safe cross-cloud migration.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design rule: the LLM only reasons and produces a structured plan — it never writes CloudFormation syntax directly. Everything downstream, rendering YAML, linting, and deploying, is deterministic code. This separation makes the pipeline auditable and replayable, and guarantees no component makes surprise network calls or mutates AWS outside the deploy step.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 conceptual level the system flows through six stages: Source, Ingest and Normalize, Reason, Govern, Execute, and Target. The important point is that reasoning is isolated to a single stage — everything else is deterministic and governed. Underneath, three cross-cutting foundations apply at every stage: secret protection, observability, and evaluation and calibration.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detailed pipeline. Agents 0 to 2 export and normalize the source. Agent 3 is the single Bedrock LLM call that produces the migration plan. Agents 4 and 5 render and lint the template; if linting fails, we loop back to Agent 3 with the error for self-correction. Once lint is clean, the plan check and guardrail scan run automatically with no prompt, then the one human gate checks for a stack conflict before Agents 6 and 7 deploy, verify, and report.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exactly one interactive gate. The plan review and guardrail scan both run automatically once lint is clean — they log everything but never block. The stack-conflict gate is the only prompt, and only fires when the target stack already exists: delete and recreate, or cancel. Once it clears, deployment is fully automatic, with parameter values resolved non-interactively from files, environment variables, or the source Key Vault.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has two layers. The guardrail scan runs checkov plus custom checks for hardcoded secrets, over-permissive IAM, and open network ingress. Secrets handling wraps values so they print as asterisks, redacts them from logs, never writes plaintext to disk, and only reveals them at the AWS API boundary. Severity drives visibility, not blocking — every finding is logged, and the run always continues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Mappings are grounded, not guessed. Each Azure resource type maps to a human-reviewed markdown document describing its AWS equivalent. Before reasoning, the LLM retrieves the relevant docs using hybrid vector plus keyword search. The knowledge base follows a seed-and-grow model: an unmapped resource type is logged and skipped automatically rather than guessed at, and coverage expands over time as new mapping docs are added.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agent migrates Key Vault to Secrets Manager, Virtual Networks to VPCs, Azure Functions to Lambda with IAM and S3, Blob containers to S3 buckets, and Storage Queue and Service Bus to SQS and SNS. Coverage is intentionally growing — adding a new family is just authoring a mapping doc and registering it in the knowledge base index.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measure quality on two layers. The benchmark harness scores the LLM step on plan validity, parameter hygiene, resource-type accuracy, and retrieval quality, and can run a trimmed pipeline that never deploys. The run-history calibration layer tracks real runs over time — pass rate, intervention rate, deploy success, and a Brier score. This separates prompt quality from operational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stack is focused and modern: LangGraph for orchestration, AWS Bedrock for the reasoning step, boto3 for deploy and verify, cfn-lint for validation, checkov for security scanning, Chroma and BM25 for retrieval, LangSmith for optional tracing, and Python with pytest for testable deterministic nodes. Persistence is simple flat files — no database needed at this scale.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seven agents, one LLM reasoning step, and a single human decision point. The result is auditable through structured plans and per-run artifacts, safe through automatic checkpoints, guardrails, and the stack-conflict gate, reliable through self-correction and calibration, and extensible through a seed-and-grow knowledge base. In short, a practical and trustworthy path from Azure Bicep to AWS CloudFormation. Thank you —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188720"/>
            <a:ext cx="10058400" cy="365760"/>
          </a:xfrm>
          <a:prstGeom prst="rect">
            <a:avLst/>
          </a:prstGeom>
          <a:noFill/>
        </p:spPr>
        <p:txBody>
          <a:bodyPr wrap="square" anchor="t">
            <a:spAutoFit/>
          </a:bodyPr>
          <a:lstStyle/>
          <a:p>
            <a:pPr algn="l">
              <a:lnSpc>
                <a:spcPct val="100000"/>
              </a:lnSpc>
              <a:spcBef>
                <a:spcPts val="0"/>
              </a:spcBef>
              <a:spcAft>
                <a:spcPts val="400"/>
              </a:spcAft>
            </a:pPr>
            <a:r>
              <a:rPr sz="1400" b="1" i="0">
                <a:solidFill>
                  <a:srgbClr val="5B5BD6"/>
                </a:solidFill>
                <a:latin typeface="Segoe UI"/>
              </a:rPr>
              <a:t>CAPSTONE PROJECT · AGENTIC CLOUD MIGRATION</a:t>
            </a:r>
          </a:p>
        </p:txBody>
      </p:sp>
      <p:sp>
        <p:nvSpPr>
          <p:cNvPr id="6" name="TextBox 5"/>
          <p:cNvSpPr txBox="1"/>
          <p:nvPr/>
        </p:nvSpPr>
        <p:spPr>
          <a:xfrm>
            <a:off x="822960" y="1691640"/>
            <a:ext cx="10515600" cy="1645920"/>
          </a:xfrm>
          <a:prstGeom prst="rect">
            <a:avLst/>
          </a:prstGeom>
          <a:noFill/>
        </p:spPr>
        <p:txBody>
          <a:bodyPr wrap="square" anchor="t">
            <a:spAutoFit/>
          </a:bodyPr>
          <a:lstStyle/>
          <a:p>
            <a:pPr algn="l">
              <a:lnSpc>
                <a:spcPct val="105000"/>
              </a:lnSpc>
              <a:spcBef>
                <a:spcPts val="0"/>
              </a:spcBef>
              <a:spcAft>
                <a:spcPts val="400"/>
              </a:spcAft>
            </a:pPr>
            <a:r>
              <a:rPr sz="4000" b="1" i="0">
                <a:solidFill>
                  <a:srgbClr val="1B2733"/>
                </a:solidFill>
                <a:latin typeface="Segoe UI"/>
              </a:rPr>
              <a:t>Azure Bicep → AWS CloudFormation</a:t>
            </a:r>
          </a:p>
          <a:p>
            <a:pPr algn="l">
              <a:lnSpc>
                <a:spcPct val="105000"/>
              </a:lnSpc>
              <a:spcBef>
                <a:spcPts val="0"/>
              </a:spcBef>
              <a:spcAft>
                <a:spcPts val="400"/>
              </a:spcAft>
            </a:pPr>
            <a:r>
              <a:rPr sz="4000" b="1" i="0">
                <a:solidFill>
                  <a:srgbClr val="1B2733"/>
                </a:solidFill>
                <a:latin typeface="Segoe UI"/>
              </a:rPr>
              <a:t>Migration Agent</a:t>
            </a:r>
          </a:p>
        </p:txBody>
      </p:sp>
      <p:sp>
        <p:nvSpPr>
          <p:cNvPr id="7" name="TextBox 6"/>
          <p:cNvSpPr txBox="1"/>
          <p:nvPr/>
        </p:nvSpPr>
        <p:spPr>
          <a:xfrm>
            <a:off x="822960" y="3520440"/>
            <a:ext cx="10058400" cy="914400"/>
          </a:xfrm>
          <a:prstGeom prst="rect">
            <a:avLst/>
          </a:prstGeom>
          <a:noFill/>
        </p:spPr>
        <p:txBody>
          <a:bodyPr wrap="square" anchor="t">
            <a:spAutoFit/>
          </a:bodyPr>
          <a:lstStyle/>
          <a:p>
            <a:pPr algn="l">
              <a:lnSpc>
                <a:spcPct val="120000"/>
              </a:lnSpc>
              <a:spcBef>
                <a:spcPts val="0"/>
              </a:spcBef>
              <a:spcAft>
                <a:spcPts val="400"/>
              </a:spcAft>
            </a:pPr>
            <a:r>
              <a:rPr sz="1800" b="0" i="0">
                <a:solidFill>
                  <a:srgbClr val="5B6B7B"/>
                </a:solidFill>
                <a:latin typeface="Segoe UI"/>
              </a:rPr>
              <a:t>An agentic, human-gated pipeline that translates Azure infrastructure-as-code into AWS CloudFormation — safely, auditably, and with the human in control.</a:t>
            </a:r>
          </a:p>
        </p:txBody>
      </p:sp>
      <p:sp>
        <p:nvSpPr>
          <p:cNvPr id="8" name="Rounded Rectangle 7"/>
          <p:cNvSpPr/>
          <p:nvPr/>
        </p:nvSpPr>
        <p:spPr>
          <a:xfrm>
            <a:off x="822960" y="4663440"/>
            <a:ext cx="2585923" cy="384048"/>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727448"/>
            <a:ext cx="2585923" cy="274320"/>
          </a:xfrm>
          <a:prstGeom prst="rect">
            <a:avLst/>
          </a:prstGeom>
          <a:noFill/>
        </p:spPr>
        <p:txBody>
          <a:bodyPr wrap="square" anchor="t">
            <a:spAutoFit/>
          </a:bodyPr>
          <a:lstStyle/>
          <a:p>
            <a:pPr algn="ctr">
              <a:lnSpc>
                <a:spcPct val="100000"/>
              </a:lnSpc>
              <a:spcBef>
                <a:spcPts val="0"/>
              </a:spcBef>
              <a:spcAft>
                <a:spcPts val="400"/>
              </a:spcAft>
            </a:pPr>
            <a:r>
              <a:rPr sz="1200" b="1" i="0">
                <a:solidFill>
                  <a:srgbClr val="1B2733"/>
                </a:solidFill>
                <a:latin typeface="Segoe UI"/>
              </a:rPr>
              <a:t>7-Agent LangGraph Pipeline</a:t>
            </a:r>
          </a:p>
        </p:txBody>
      </p:sp>
      <p:sp>
        <p:nvSpPr>
          <p:cNvPr id="10" name="Rounded Rectangle 9"/>
          <p:cNvSpPr/>
          <p:nvPr/>
        </p:nvSpPr>
        <p:spPr>
          <a:xfrm>
            <a:off x="3573475" y="4663440"/>
            <a:ext cx="2137867" cy="384048"/>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73475" y="4727448"/>
            <a:ext cx="2137867" cy="274320"/>
          </a:xfrm>
          <a:prstGeom prst="rect">
            <a:avLst/>
          </a:prstGeom>
          <a:noFill/>
        </p:spPr>
        <p:txBody>
          <a:bodyPr wrap="square" anchor="t">
            <a:spAutoFit/>
          </a:bodyPr>
          <a:lstStyle/>
          <a:p>
            <a:pPr algn="ctr">
              <a:lnSpc>
                <a:spcPct val="100000"/>
              </a:lnSpc>
              <a:spcBef>
                <a:spcPts val="0"/>
              </a:spcBef>
              <a:spcAft>
                <a:spcPts val="400"/>
              </a:spcAft>
            </a:pPr>
            <a:r>
              <a:rPr sz="1200" b="1" i="0">
                <a:solidFill>
                  <a:srgbClr val="1B2733"/>
                </a:solidFill>
                <a:latin typeface="Segoe UI"/>
              </a:rPr>
              <a:t>AWS Bedrock Reasoning</a:t>
            </a:r>
          </a:p>
        </p:txBody>
      </p:sp>
      <p:sp>
        <p:nvSpPr>
          <p:cNvPr id="12" name="Rounded Rectangle 11"/>
          <p:cNvSpPr/>
          <p:nvPr/>
        </p:nvSpPr>
        <p:spPr>
          <a:xfrm>
            <a:off x="5875934" y="4663440"/>
            <a:ext cx="2317089" cy="384048"/>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75934" y="4727448"/>
            <a:ext cx="2317089" cy="274320"/>
          </a:xfrm>
          <a:prstGeom prst="rect">
            <a:avLst/>
          </a:prstGeom>
          <a:noFill/>
        </p:spPr>
        <p:txBody>
          <a:bodyPr wrap="square" anchor="t">
            <a:spAutoFit/>
          </a:bodyPr>
          <a:lstStyle/>
          <a:p>
            <a:pPr algn="ctr">
              <a:lnSpc>
                <a:spcPct val="100000"/>
              </a:lnSpc>
              <a:spcBef>
                <a:spcPts val="0"/>
              </a:spcBef>
              <a:spcAft>
                <a:spcPts val="400"/>
              </a:spcAft>
            </a:pPr>
            <a:r>
              <a:rPr sz="1200" b="1" i="0">
                <a:solidFill>
                  <a:srgbClr val="1B2733"/>
                </a:solidFill>
                <a:latin typeface="Segoe UI"/>
              </a:rPr>
              <a:t>Human-in-the-Loop Gates</a:t>
            </a:r>
          </a:p>
        </p:txBody>
      </p:sp>
      <p:sp>
        <p:nvSpPr>
          <p:cNvPr id="14" name="Rounded Rectangle 13"/>
          <p:cNvSpPr/>
          <p:nvPr/>
        </p:nvSpPr>
        <p:spPr>
          <a:xfrm>
            <a:off x="8357616" y="4663440"/>
            <a:ext cx="1958644" cy="384048"/>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7616" y="4727448"/>
            <a:ext cx="1958644" cy="274320"/>
          </a:xfrm>
          <a:prstGeom prst="rect">
            <a:avLst/>
          </a:prstGeom>
          <a:noFill/>
        </p:spPr>
        <p:txBody>
          <a:bodyPr wrap="square" anchor="t">
            <a:spAutoFit/>
          </a:bodyPr>
          <a:lstStyle/>
          <a:p>
            <a:pPr algn="ctr">
              <a:lnSpc>
                <a:spcPct val="100000"/>
              </a:lnSpc>
              <a:spcBef>
                <a:spcPts val="0"/>
              </a:spcBef>
              <a:spcAft>
                <a:spcPts val="400"/>
              </a:spcAft>
            </a:pPr>
            <a:r>
              <a:rPr sz="1200" b="1" i="0">
                <a:solidFill>
                  <a:srgbClr val="1B2733"/>
                </a:solidFill>
                <a:latin typeface="Segoe UI"/>
              </a:rPr>
              <a:t>Security Guardrails</a:t>
            </a:r>
          </a:p>
        </p:txBody>
      </p:sp>
      <p:sp>
        <p:nvSpPr>
          <p:cNvPr id="16" name="Rounded Rectangle 15"/>
          <p:cNvSpPr/>
          <p:nvPr/>
        </p:nvSpPr>
        <p:spPr>
          <a:xfrm>
            <a:off x="10480852" y="4663440"/>
            <a:ext cx="1869033" cy="384048"/>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80852" y="4727448"/>
            <a:ext cx="1869033" cy="274320"/>
          </a:xfrm>
          <a:prstGeom prst="rect">
            <a:avLst/>
          </a:prstGeom>
          <a:noFill/>
        </p:spPr>
        <p:txBody>
          <a:bodyPr wrap="square" anchor="t">
            <a:spAutoFit/>
          </a:bodyPr>
          <a:lstStyle/>
          <a:p>
            <a:pPr algn="ctr">
              <a:lnSpc>
                <a:spcPct val="100000"/>
              </a:lnSpc>
              <a:spcBef>
                <a:spcPts val="0"/>
              </a:spcBef>
              <a:spcAft>
                <a:spcPts val="400"/>
              </a:spcAft>
            </a:pPr>
            <a:r>
              <a:rPr sz="1200" b="1" i="0">
                <a:solidFill>
                  <a:srgbClr val="1B2733"/>
                </a:solidFill>
                <a:latin typeface="Segoe UI"/>
              </a:rPr>
              <a:t>RAG Knowledge Base</a:t>
            </a:r>
          </a:p>
        </p:txBody>
      </p:sp>
      <p:sp>
        <p:nvSpPr>
          <p:cNvPr id="18" name="Rectangle 17"/>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20" name="TextBox 19"/>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1 · Overview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BUSINESS PROBLEM</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Why organizations migrate — and why it stalls</a:t>
            </a:r>
          </a:p>
        </p:txBody>
      </p:sp>
      <p:sp>
        <p:nvSpPr>
          <p:cNvPr id="5" name="TextBox 4"/>
          <p:cNvSpPr txBox="1"/>
          <p:nvPr/>
        </p:nvSpPr>
        <p:spPr>
          <a:xfrm>
            <a:off x="640080" y="1600200"/>
            <a:ext cx="5760720" cy="822960"/>
          </a:xfrm>
          <a:prstGeom prst="rect">
            <a:avLst/>
          </a:prstGeom>
          <a:noFill/>
        </p:spPr>
        <p:txBody>
          <a:bodyPr wrap="square" anchor="t">
            <a:spAutoFit/>
          </a:bodyPr>
          <a:lstStyle/>
          <a:p>
            <a:pPr algn="l">
              <a:lnSpc>
                <a:spcPct val="115000"/>
              </a:lnSpc>
              <a:spcBef>
                <a:spcPts val="0"/>
              </a:spcBef>
              <a:spcAft>
                <a:spcPts val="400"/>
              </a:spcAft>
            </a:pPr>
            <a:r>
              <a:rPr sz="1600" b="0" i="0">
                <a:solidFill>
                  <a:srgbClr val="1B2733"/>
                </a:solidFill>
                <a:latin typeface="Segoe UI"/>
              </a:rPr>
              <a:t>Companies move workloads from Azure to AWS for real business reasons — but the infrastructure-as-code rewrite becomes the bottleneck that delays the whole program.</a:t>
            </a:r>
          </a:p>
        </p:txBody>
      </p:sp>
      <p:sp>
        <p:nvSpPr>
          <p:cNvPr id="6" name="TextBox 5"/>
          <p:cNvSpPr txBox="1"/>
          <p:nvPr/>
        </p:nvSpPr>
        <p:spPr>
          <a:xfrm>
            <a:off x="640080" y="2697480"/>
            <a:ext cx="5760720" cy="2743200"/>
          </a:xfrm>
          <a:prstGeom prst="rect">
            <a:avLst/>
          </a:prstGeom>
          <a:noFill/>
        </p:spPr>
        <p:txBody>
          <a:bodyPr wrap="square" anchor="t">
            <a:spAutoFit/>
          </a:bodyPr>
          <a:lstStyle/>
          <a:p>
            <a:pPr algn="l">
              <a:lnSpc>
                <a:spcPct val="105000"/>
              </a:lnSpc>
              <a:spcBef>
                <a:spcPts val="0"/>
              </a:spcBef>
              <a:spcAft>
                <a:spcPts val="900"/>
              </a:spcAft>
            </a:pPr>
            <a:r>
              <a:rPr sz="1550" b="1" i="0">
                <a:solidFill>
                  <a:srgbClr val="0078D4"/>
                </a:solidFill>
                <a:latin typeface="Segoe UI"/>
              </a:rPr>
              <a:t>•  </a:t>
            </a:r>
            <a:r>
              <a:rPr sz="1550" b="1" i="0">
                <a:solidFill>
                  <a:srgbClr val="1B2733"/>
                </a:solidFill>
                <a:latin typeface="Segoe UI"/>
              </a:rPr>
              <a:t>Cost optimization</a:t>
            </a:r>
            <a:r>
              <a:rPr sz="1550" b="0" i="0">
                <a:solidFill>
                  <a:srgbClr val="1B2733"/>
                </a:solidFill>
                <a:latin typeface="Segoe UI"/>
              </a:rPr>
              <a:t> — consolidating onto a preferred cloud or better pricing.</a:t>
            </a:r>
          </a:p>
          <a:p>
            <a:pPr algn="l">
              <a:lnSpc>
                <a:spcPct val="105000"/>
              </a:lnSpc>
              <a:spcBef>
                <a:spcPts val="0"/>
              </a:spcBef>
              <a:spcAft>
                <a:spcPts val="900"/>
              </a:spcAft>
            </a:pPr>
            <a:r>
              <a:rPr sz="1550" b="1" i="0">
                <a:solidFill>
                  <a:srgbClr val="0078D4"/>
                </a:solidFill>
                <a:latin typeface="Segoe UI"/>
              </a:rPr>
              <a:t>•  </a:t>
            </a:r>
            <a:r>
              <a:rPr sz="1550" b="1" i="0">
                <a:solidFill>
                  <a:srgbClr val="1B2733"/>
                </a:solidFill>
                <a:latin typeface="Segoe UI"/>
              </a:rPr>
              <a:t>Mergers &amp; acquisitions</a:t>
            </a:r>
            <a:r>
              <a:rPr sz="1550" b="0" i="0">
                <a:solidFill>
                  <a:srgbClr val="1B2733"/>
                </a:solidFill>
                <a:latin typeface="Segoe UI"/>
              </a:rPr>
              <a:t> — two companies, two clouds, one target platform.</a:t>
            </a:r>
          </a:p>
          <a:p>
            <a:pPr algn="l">
              <a:lnSpc>
                <a:spcPct val="105000"/>
              </a:lnSpc>
              <a:spcBef>
                <a:spcPts val="0"/>
              </a:spcBef>
              <a:spcAft>
                <a:spcPts val="900"/>
              </a:spcAft>
            </a:pPr>
            <a:r>
              <a:rPr sz="1550" b="1" i="0">
                <a:solidFill>
                  <a:srgbClr val="0078D4"/>
                </a:solidFill>
                <a:latin typeface="Segoe UI"/>
              </a:rPr>
              <a:t>•  </a:t>
            </a:r>
            <a:r>
              <a:rPr sz="1550" b="1" i="0">
                <a:solidFill>
                  <a:srgbClr val="1B2733"/>
                </a:solidFill>
                <a:latin typeface="Segoe UI"/>
              </a:rPr>
              <a:t>Avoiding vendor lock-in</a:t>
            </a:r>
            <a:r>
              <a:rPr sz="1550" b="0" i="0">
                <a:solidFill>
                  <a:srgbClr val="1B2733"/>
                </a:solidFill>
                <a:latin typeface="Segoe UI"/>
              </a:rPr>
              <a:t> — staying portable across providers.</a:t>
            </a:r>
          </a:p>
          <a:p>
            <a:pPr algn="l">
              <a:lnSpc>
                <a:spcPct val="105000"/>
              </a:lnSpc>
              <a:spcBef>
                <a:spcPts val="0"/>
              </a:spcBef>
              <a:spcAft>
                <a:spcPts val="900"/>
              </a:spcAft>
            </a:pPr>
            <a:r>
              <a:rPr sz="1550" b="1" i="0">
                <a:solidFill>
                  <a:srgbClr val="0078D4"/>
                </a:solidFill>
                <a:latin typeface="Segoe UI"/>
              </a:rPr>
              <a:t>•  </a:t>
            </a:r>
            <a:r>
              <a:rPr sz="1550" b="1" i="0">
                <a:solidFill>
                  <a:srgbClr val="1B2733"/>
                </a:solidFill>
                <a:latin typeface="Segoe UI"/>
              </a:rPr>
              <a:t>Customer &amp; compliance mandates</a:t>
            </a:r>
            <a:r>
              <a:rPr sz="1550" b="0" i="0">
                <a:solidFill>
                  <a:srgbClr val="1B2733"/>
                </a:solidFill>
                <a:latin typeface="Segoe UI"/>
              </a:rPr>
              <a:t> — running where the business must.</a:t>
            </a:r>
          </a:p>
        </p:txBody>
      </p:sp>
      <p:sp>
        <p:nvSpPr>
          <p:cNvPr id="7" name="Rounded Rectangle 6"/>
          <p:cNvSpPr/>
          <p:nvPr/>
        </p:nvSpPr>
        <p:spPr>
          <a:xfrm>
            <a:off x="6720840" y="1691640"/>
            <a:ext cx="2286000" cy="123444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20840" y="1874520"/>
            <a:ext cx="2286000" cy="548640"/>
          </a:xfrm>
          <a:prstGeom prst="rect">
            <a:avLst/>
          </a:prstGeom>
          <a:noFill/>
        </p:spPr>
        <p:txBody>
          <a:bodyPr wrap="square" anchor="t">
            <a:spAutoFit/>
          </a:bodyPr>
          <a:lstStyle/>
          <a:p>
            <a:pPr algn="ctr">
              <a:lnSpc>
                <a:spcPct val="100000"/>
              </a:lnSpc>
              <a:spcBef>
                <a:spcPts val="0"/>
              </a:spcBef>
              <a:spcAft>
                <a:spcPts val="400"/>
              </a:spcAft>
            </a:pPr>
            <a:r>
              <a:rPr sz="2600" b="1" i="0">
                <a:solidFill>
                  <a:srgbClr val="0078D4"/>
                </a:solidFill>
                <a:latin typeface="Segoe UI"/>
              </a:rPr>
              <a:t>Weeks</a:t>
            </a:r>
          </a:p>
        </p:txBody>
      </p:sp>
      <p:sp>
        <p:nvSpPr>
          <p:cNvPr id="9" name="TextBox 8"/>
          <p:cNvSpPr txBox="1"/>
          <p:nvPr/>
        </p:nvSpPr>
        <p:spPr>
          <a:xfrm>
            <a:off x="6812279" y="2404872"/>
            <a:ext cx="2103120" cy="457200"/>
          </a:xfrm>
          <a:prstGeom prst="rect">
            <a:avLst/>
          </a:prstGeom>
          <a:noFill/>
        </p:spPr>
        <p:txBody>
          <a:bodyPr wrap="square" anchor="t">
            <a:spAutoFit/>
          </a:bodyPr>
          <a:lstStyle/>
          <a:p>
            <a:pPr algn="ctr">
              <a:lnSpc>
                <a:spcPct val="98000"/>
              </a:lnSpc>
              <a:spcBef>
                <a:spcPts val="0"/>
              </a:spcBef>
              <a:spcAft>
                <a:spcPts val="400"/>
              </a:spcAft>
            </a:pPr>
            <a:r>
              <a:rPr sz="1150" b="0" i="0">
                <a:solidFill>
                  <a:srgbClr val="5B6B7B"/>
                </a:solidFill>
                <a:latin typeface="Segoe UI"/>
              </a:rPr>
              <a:t>of manual rework per workload</a:t>
            </a:r>
          </a:p>
        </p:txBody>
      </p:sp>
      <p:sp>
        <p:nvSpPr>
          <p:cNvPr id="10" name="Rounded Rectangle 9"/>
          <p:cNvSpPr/>
          <p:nvPr/>
        </p:nvSpPr>
        <p:spPr>
          <a:xfrm>
            <a:off x="9208008" y="1691640"/>
            <a:ext cx="2286000" cy="123444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08008" y="1874520"/>
            <a:ext cx="2286000" cy="548640"/>
          </a:xfrm>
          <a:prstGeom prst="rect">
            <a:avLst/>
          </a:prstGeom>
          <a:noFill/>
        </p:spPr>
        <p:txBody>
          <a:bodyPr wrap="square" anchor="t">
            <a:spAutoFit/>
          </a:bodyPr>
          <a:lstStyle/>
          <a:p>
            <a:pPr algn="ctr">
              <a:lnSpc>
                <a:spcPct val="100000"/>
              </a:lnSpc>
              <a:spcBef>
                <a:spcPts val="0"/>
              </a:spcBef>
              <a:spcAft>
                <a:spcPts val="400"/>
              </a:spcAft>
            </a:pPr>
            <a:r>
              <a:rPr sz="2600" b="1" i="0">
                <a:solidFill>
                  <a:srgbClr val="FF9900"/>
                </a:solidFill>
                <a:latin typeface="Segoe UI"/>
              </a:rPr>
              <a:t>High</a:t>
            </a:r>
          </a:p>
        </p:txBody>
      </p:sp>
      <p:sp>
        <p:nvSpPr>
          <p:cNvPr id="12" name="TextBox 11"/>
          <p:cNvSpPr txBox="1"/>
          <p:nvPr/>
        </p:nvSpPr>
        <p:spPr>
          <a:xfrm>
            <a:off x="9299448" y="2404872"/>
            <a:ext cx="2103120" cy="457200"/>
          </a:xfrm>
          <a:prstGeom prst="rect">
            <a:avLst/>
          </a:prstGeom>
          <a:noFill/>
        </p:spPr>
        <p:txBody>
          <a:bodyPr wrap="square" anchor="t">
            <a:spAutoFit/>
          </a:bodyPr>
          <a:lstStyle/>
          <a:p>
            <a:pPr algn="ctr">
              <a:lnSpc>
                <a:spcPct val="98000"/>
              </a:lnSpc>
              <a:spcBef>
                <a:spcPts val="0"/>
              </a:spcBef>
              <a:spcAft>
                <a:spcPts val="400"/>
              </a:spcAft>
            </a:pPr>
            <a:r>
              <a:rPr sz="1150" b="0" i="0">
                <a:solidFill>
                  <a:srgbClr val="5B6B7B"/>
                </a:solidFill>
                <a:latin typeface="Segoe UI"/>
              </a:rPr>
              <a:t>cost of specialist cloud engineers</a:t>
            </a:r>
          </a:p>
        </p:txBody>
      </p:sp>
      <p:sp>
        <p:nvSpPr>
          <p:cNvPr id="13" name="Rounded Rectangle 12"/>
          <p:cNvSpPr/>
          <p:nvPr/>
        </p:nvSpPr>
        <p:spPr>
          <a:xfrm>
            <a:off x="6720840" y="3108960"/>
            <a:ext cx="2286000" cy="123444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40" y="3291840"/>
            <a:ext cx="2286000" cy="548640"/>
          </a:xfrm>
          <a:prstGeom prst="rect">
            <a:avLst/>
          </a:prstGeom>
          <a:noFill/>
        </p:spPr>
        <p:txBody>
          <a:bodyPr wrap="square" anchor="t">
            <a:spAutoFit/>
          </a:bodyPr>
          <a:lstStyle/>
          <a:p>
            <a:pPr algn="ctr">
              <a:lnSpc>
                <a:spcPct val="100000"/>
              </a:lnSpc>
              <a:spcBef>
                <a:spcPts val="0"/>
              </a:spcBef>
              <a:spcAft>
                <a:spcPts val="400"/>
              </a:spcAft>
            </a:pPr>
            <a:r>
              <a:rPr sz="2600" b="1" i="0">
                <a:solidFill>
                  <a:srgbClr val="0078D4"/>
                </a:solidFill>
                <a:latin typeface="Segoe UI"/>
              </a:rPr>
              <a:t>Outages</a:t>
            </a:r>
          </a:p>
        </p:txBody>
      </p:sp>
      <p:sp>
        <p:nvSpPr>
          <p:cNvPr id="15" name="TextBox 14"/>
          <p:cNvSpPr txBox="1"/>
          <p:nvPr/>
        </p:nvSpPr>
        <p:spPr>
          <a:xfrm>
            <a:off x="6812279" y="3822192"/>
            <a:ext cx="2103120" cy="457200"/>
          </a:xfrm>
          <a:prstGeom prst="rect">
            <a:avLst/>
          </a:prstGeom>
          <a:noFill/>
        </p:spPr>
        <p:txBody>
          <a:bodyPr wrap="square" anchor="t">
            <a:spAutoFit/>
          </a:bodyPr>
          <a:lstStyle/>
          <a:p>
            <a:pPr algn="ctr">
              <a:lnSpc>
                <a:spcPct val="98000"/>
              </a:lnSpc>
              <a:spcBef>
                <a:spcPts val="0"/>
              </a:spcBef>
              <a:spcAft>
                <a:spcPts val="400"/>
              </a:spcAft>
            </a:pPr>
            <a:r>
              <a:rPr sz="1150" b="0" i="0">
                <a:solidFill>
                  <a:srgbClr val="5B6B7B"/>
                </a:solidFill>
                <a:latin typeface="Segoe UI"/>
              </a:rPr>
              <a:t>risk from manual translation errors</a:t>
            </a:r>
          </a:p>
        </p:txBody>
      </p:sp>
      <p:sp>
        <p:nvSpPr>
          <p:cNvPr id="16" name="Rounded Rectangle 15"/>
          <p:cNvSpPr/>
          <p:nvPr/>
        </p:nvSpPr>
        <p:spPr>
          <a:xfrm>
            <a:off x="9208008" y="3108960"/>
            <a:ext cx="2286000" cy="123444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08008" y="3291840"/>
            <a:ext cx="2286000" cy="548640"/>
          </a:xfrm>
          <a:prstGeom prst="rect">
            <a:avLst/>
          </a:prstGeom>
          <a:noFill/>
        </p:spPr>
        <p:txBody>
          <a:bodyPr wrap="square" anchor="t">
            <a:spAutoFit/>
          </a:bodyPr>
          <a:lstStyle/>
          <a:p>
            <a:pPr algn="ctr">
              <a:lnSpc>
                <a:spcPct val="100000"/>
              </a:lnSpc>
              <a:spcBef>
                <a:spcPts val="0"/>
              </a:spcBef>
              <a:spcAft>
                <a:spcPts val="400"/>
              </a:spcAft>
            </a:pPr>
            <a:r>
              <a:rPr sz="2600" b="1" i="0">
                <a:solidFill>
                  <a:srgbClr val="FF9900"/>
                </a:solidFill>
                <a:latin typeface="Segoe UI"/>
              </a:rPr>
              <a:t>Leaks</a:t>
            </a:r>
          </a:p>
        </p:txBody>
      </p:sp>
      <p:sp>
        <p:nvSpPr>
          <p:cNvPr id="18" name="TextBox 17"/>
          <p:cNvSpPr txBox="1"/>
          <p:nvPr/>
        </p:nvSpPr>
        <p:spPr>
          <a:xfrm>
            <a:off x="9299448" y="3822192"/>
            <a:ext cx="2103120" cy="457200"/>
          </a:xfrm>
          <a:prstGeom prst="rect">
            <a:avLst/>
          </a:prstGeom>
          <a:noFill/>
        </p:spPr>
        <p:txBody>
          <a:bodyPr wrap="square" anchor="t">
            <a:spAutoFit/>
          </a:bodyPr>
          <a:lstStyle/>
          <a:p>
            <a:pPr algn="ctr">
              <a:lnSpc>
                <a:spcPct val="98000"/>
              </a:lnSpc>
              <a:spcBef>
                <a:spcPts val="0"/>
              </a:spcBef>
              <a:spcAft>
                <a:spcPts val="400"/>
              </a:spcAft>
            </a:pPr>
            <a:r>
              <a:rPr sz="1150" b="0" i="0">
                <a:solidFill>
                  <a:srgbClr val="5B6B7B"/>
                </a:solidFill>
                <a:latin typeface="Segoe UI"/>
              </a:rPr>
              <a:t>exposure of secrets &amp; access</a:t>
            </a:r>
          </a:p>
        </p:txBody>
      </p:sp>
      <p:sp>
        <p:nvSpPr>
          <p:cNvPr id="19" name="TextBox 18"/>
          <p:cNvSpPr txBox="1"/>
          <p:nvPr/>
        </p:nvSpPr>
        <p:spPr>
          <a:xfrm>
            <a:off x="640080" y="5715000"/>
            <a:ext cx="10881360" cy="548640"/>
          </a:xfrm>
          <a:prstGeom prst="rect">
            <a:avLst/>
          </a:prstGeom>
          <a:noFill/>
        </p:spPr>
        <p:txBody>
          <a:bodyPr wrap="square" anchor="t">
            <a:spAutoFit/>
          </a:bodyPr>
          <a:lstStyle/>
          <a:p>
            <a:pPr algn="l">
              <a:lnSpc>
                <a:spcPct val="110000"/>
              </a:lnSpc>
              <a:spcBef>
                <a:spcPts val="0"/>
              </a:spcBef>
              <a:spcAft>
                <a:spcPts val="400"/>
              </a:spcAft>
            </a:pPr>
            <a:r>
              <a:rPr sz="1500" b="1" i="0">
                <a:solidFill>
                  <a:srgbClr val="1B2733"/>
                </a:solidFill>
                <a:latin typeface="Segoe UI"/>
              </a:rPr>
              <a:t>The goal: </a:t>
            </a:r>
            <a:r>
              <a:rPr sz="1500" b="0" i="0">
                <a:solidFill>
                  <a:srgbClr val="5B6B7B"/>
                </a:solidFill>
                <a:latin typeface="Segoe UI"/>
              </a:rPr>
              <a:t>cut migration time, cost, and risk with an automated, auditable, repeatable pipeline — so teams ship migrations with confidence.</a:t>
            </a:r>
          </a:p>
        </p:txBody>
      </p:sp>
      <p:sp>
        <p:nvSpPr>
          <p:cNvPr id="20" name="Rectangle 19"/>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22" name="TextBox 21"/>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2 · Business Problem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THE PROBLEM</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Moving infrastructure between clouds is hard and risky</a:t>
            </a:r>
          </a:p>
        </p:txBody>
      </p:sp>
      <p:sp>
        <p:nvSpPr>
          <p:cNvPr id="5" name="TextBox 4"/>
          <p:cNvSpPr txBox="1"/>
          <p:nvPr/>
        </p:nvSpPr>
        <p:spPr>
          <a:xfrm>
            <a:off x="640080" y="1600200"/>
            <a:ext cx="5852160" cy="914400"/>
          </a:xfrm>
          <a:prstGeom prst="rect">
            <a:avLst/>
          </a:prstGeom>
          <a:noFill/>
        </p:spPr>
        <p:txBody>
          <a:bodyPr wrap="square" anchor="t">
            <a:spAutoFit/>
          </a:bodyPr>
          <a:lstStyle/>
          <a:p>
            <a:pPr algn="l">
              <a:lnSpc>
                <a:spcPct val="115000"/>
              </a:lnSpc>
              <a:spcBef>
                <a:spcPts val="0"/>
              </a:spcBef>
              <a:spcAft>
                <a:spcPts val="400"/>
              </a:spcAft>
            </a:pPr>
            <a:r>
              <a:rPr sz="1600" b="0" i="0">
                <a:solidFill>
                  <a:srgbClr val="1B2733"/>
                </a:solidFill>
                <a:latin typeface="Segoe UI"/>
              </a:rPr>
              <a:t>Teams migrating from Azure to AWS must rewrite their infrastructure code by hand. This is slow, error-prone, and easy to get wrong.</a:t>
            </a:r>
          </a:p>
        </p:txBody>
      </p:sp>
      <p:sp>
        <p:nvSpPr>
          <p:cNvPr id="6" name="TextBox 5"/>
          <p:cNvSpPr txBox="1"/>
          <p:nvPr/>
        </p:nvSpPr>
        <p:spPr>
          <a:xfrm>
            <a:off x="640080" y="2697480"/>
            <a:ext cx="5852160" cy="2926080"/>
          </a:xfrm>
          <a:prstGeom prst="rect">
            <a:avLst/>
          </a:prstGeom>
          <a:noFill/>
        </p:spPr>
        <p:txBody>
          <a:bodyPr wrap="square" anchor="t">
            <a:spAutoFit/>
          </a:bodyPr>
          <a:lstStyle/>
          <a:p>
            <a:pPr algn="l">
              <a:lnSpc>
                <a:spcPct val="105000"/>
              </a:lnSpc>
              <a:spcBef>
                <a:spcPts val="0"/>
              </a:spcBef>
              <a:spcAft>
                <a:spcPts val="900"/>
              </a:spcAft>
            </a:pPr>
            <a:r>
              <a:rPr sz="1550" b="1" i="0">
                <a:solidFill>
                  <a:srgbClr val="0078D4"/>
                </a:solidFill>
                <a:latin typeface="Segoe UI"/>
              </a:rPr>
              <a:t>•  </a:t>
            </a:r>
            <a:r>
              <a:rPr sz="1550" b="1" i="0">
                <a:solidFill>
                  <a:srgbClr val="1B2733"/>
                </a:solidFill>
                <a:latin typeface="Segoe UI"/>
              </a:rPr>
              <a:t>Manual rewrites</a:t>
            </a:r>
            <a:r>
              <a:rPr sz="1550" b="0" i="0">
                <a:solidFill>
                  <a:srgbClr val="1B2733"/>
                </a:solidFill>
                <a:latin typeface="Segoe UI"/>
              </a:rPr>
              <a:t> of Bicep into CloudFormation take time and introduce mistakes.</a:t>
            </a:r>
          </a:p>
          <a:p>
            <a:pPr algn="l">
              <a:lnSpc>
                <a:spcPct val="105000"/>
              </a:lnSpc>
              <a:spcBef>
                <a:spcPts val="0"/>
              </a:spcBef>
              <a:spcAft>
                <a:spcPts val="900"/>
              </a:spcAft>
            </a:pPr>
            <a:r>
              <a:rPr sz="1550" b="1" i="0">
                <a:solidFill>
                  <a:srgbClr val="0078D4"/>
                </a:solidFill>
                <a:latin typeface="Segoe UI"/>
              </a:rPr>
              <a:t>•  </a:t>
            </a:r>
            <a:r>
              <a:rPr sz="1550" b="1" i="0">
                <a:solidFill>
                  <a:srgbClr val="1B2733"/>
                </a:solidFill>
                <a:latin typeface="Segoe UI"/>
              </a:rPr>
              <a:t>No audit trail</a:t>
            </a:r>
            <a:r>
              <a:rPr sz="1550" b="0" i="0">
                <a:solidFill>
                  <a:srgbClr val="1B2733"/>
                </a:solidFill>
                <a:latin typeface="Segoe UI"/>
              </a:rPr>
              <a:t> — unclear why each resource was mapped a certain way.</a:t>
            </a:r>
          </a:p>
          <a:p>
            <a:pPr algn="l">
              <a:lnSpc>
                <a:spcPct val="105000"/>
              </a:lnSpc>
              <a:spcBef>
                <a:spcPts val="0"/>
              </a:spcBef>
              <a:spcAft>
                <a:spcPts val="900"/>
              </a:spcAft>
            </a:pPr>
            <a:r>
              <a:rPr sz="1550" b="1" i="0">
                <a:solidFill>
                  <a:srgbClr val="0078D4"/>
                </a:solidFill>
                <a:latin typeface="Segoe UI"/>
              </a:rPr>
              <a:t>•  </a:t>
            </a:r>
            <a:r>
              <a:rPr sz="1550" b="1" i="0">
                <a:solidFill>
                  <a:srgbClr val="1B2733"/>
                </a:solidFill>
                <a:latin typeface="Segoe UI"/>
              </a:rPr>
              <a:t>Security risks</a:t>
            </a:r>
            <a:r>
              <a:rPr sz="1550" b="0" i="0">
                <a:solidFill>
                  <a:srgbClr val="1B2733"/>
                </a:solidFill>
                <a:latin typeface="Segoe UI"/>
              </a:rPr>
              <a:t> — secrets can leak and over-permissive rules slip through.</a:t>
            </a:r>
          </a:p>
          <a:p>
            <a:pPr algn="l">
              <a:lnSpc>
                <a:spcPct val="105000"/>
              </a:lnSpc>
              <a:spcBef>
                <a:spcPts val="0"/>
              </a:spcBef>
              <a:spcAft>
                <a:spcPts val="900"/>
              </a:spcAft>
            </a:pPr>
            <a:r>
              <a:rPr sz="1550" b="1" i="0">
                <a:solidFill>
                  <a:srgbClr val="0078D4"/>
                </a:solidFill>
                <a:latin typeface="Segoe UI"/>
              </a:rPr>
              <a:t>•  </a:t>
            </a:r>
            <a:r>
              <a:rPr sz="1550" b="1" i="0">
                <a:solidFill>
                  <a:srgbClr val="1B2733"/>
                </a:solidFill>
                <a:latin typeface="Segoe UI"/>
              </a:rPr>
              <a:t>Existing tools fall short</a:t>
            </a:r>
            <a:r>
              <a:rPr sz="1550" b="0" i="0">
                <a:solidFill>
                  <a:srgbClr val="1B2733"/>
                </a:solidFill>
                <a:latin typeface="Segoe UI"/>
              </a:rPr>
              <a:t> — they work within one cloud, not source-to-source across clouds.</a:t>
            </a:r>
          </a:p>
        </p:txBody>
      </p:sp>
      <p:sp>
        <p:nvSpPr>
          <p:cNvPr id="7" name="Rounded Rectangle 6"/>
          <p:cNvSpPr/>
          <p:nvPr/>
        </p:nvSpPr>
        <p:spPr>
          <a:xfrm>
            <a:off x="6812280" y="1691640"/>
            <a:ext cx="4709160" cy="329184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13448" y="1856232"/>
            <a:ext cx="4343400" cy="365760"/>
          </a:xfrm>
          <a:prstGeom prst="rect">
            <a:avLst/>
          </a:prstGeom>
          <a:noFill/>
        </p:spPr>
        <p:txBody>
          <a:bodyPr wrap="square" anchor="t">
            <a:spAutoFit/>
          </a:bodyPr>
          <a:lstStyle/>
          <a:p>
            <a:pPr algn="l">
              <a:lnSpc>
                <a:spcPct val="100000"/>
              </a:lnSpc>
              <a:spcBef>
                <a:spcPts val="0"/>
              </a:spcBef>
              <a:spcAft>
                <a:spcPts val="400"/>
              </a:spcAft>
            </a:pPr>
            <a:r>
              <a:rPr sz="1550" b="1" i="0">
                <a:solidFill>
                  <a:srgbClr val="0078D4"/>
                </a:solidFill>
                <a:latin typeface="Segoe UI"/>
              </a:rPr>
              <a:t>Why not just ask an LLM?</a:t>
            </a:r>
          </a:p>
        </p:txBody>
      </p:sp>
      <p:sp>
        <p:nvSpPr>
          <p:cNvPr id="9" name="TextBox 8"/>
          <p:cNvSpPr txBox="1"/>
          <p:nvPr/>
        </p:nvSpPr>
        <p:spPr>
          <a:xfrm>
            <a:off x="7013448" y="2240280"/>
            <a:ext cx="4306824" cy="2670048"/>
          </a:xfrm>
          <a:prstGeom prst="rect">
            <a:avLst/>
          </a:prstGeom>
          <a:noFill/>
        </p:spPr>
        <p:txBody>
          <a:bodyPr wrap="square" anchor="t">
            <a:spAutoFit/>
          </a:bodyPr>
          <a:lstStyle/>
          <a:p>
            <a:pPr algn="l">
              <a:lnSpc>
                <a:spcPct val="103000"/>
              </a:lnSpc>
              <a:spcBef>
                <a:spcPts val="0"/>
              </a:spcBef>
              <a:spcAft>
                <a:spcPts val="400"/>
              </a:spcAft>
            </a:pPr>
            <a:r>
              <a:rPr sz="1250" b="0" i="0">
                <a:solidFill>
                  <a:srgbClr val="5B6B7B"/>
                </a:solidFill>
                <a:latin typeface="Segoe UI"/>
              </a:rPr>
              <a:t>Asking a model to write CloudFormation directly in one shot is unreliable and unauditable. It can hallucinate syntax, leak secrets, and leaves no record of its decisions. This project takes a safer, structured approach.</a:t>
            </a:r>
          </a:p>
        </p:txBody>
      </p:sp>
      <p:sp>
        <p:nvSpPr>
          <p:cNvPr id="10" name="Rectangle 9"/>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12" name="TextBox 11"/>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3 · The Problem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THE SOLUTION</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A multi-agent pipeline with one reasoning step and human checkpoints</a:t>
            </a:r>
          </a:p>
        </p:txBody>
      </p:sp>
      <p:sp>
        <p:nvSpPr>
          <p:cNvPr id="5" name="TextBox 4"/>
          <p:cNvSpPr txBox="1"/>
          <p:nvPr/>
        </p:nvSpPr>
        <p:spPr>
          <a:xfrm>
            <a:off x="640080" y="1783080"/>
            <a:ext cx="10881360" cy="822960"/>
          </a:xfrm>
          <a:prstGeom prst="rect">
            <a:avLst/>
          </a:prstGeom>
          <a:noFill/>
        </p:spPr>
        <p:txBody>
          <a:bodyPr wrap="square" anchor="t">
            <a:spAutoFit/>
          </a:bodyPr>
          <a:lstStyle/>
          <a:p>
            <a:pPr algn="l">
              <a:lnSpc>
                <a:spcPct val="120000"/>
              </a:lnSpc>
              <a:spcBef>
                <a:spcPts val="0"/>
              </a:spcBef>
              <a:spcAft>
                <a:spcPts val="400"/>
              </a:spcAft>
            </a:pPr>
            <a:r>
              <a:rPr sz="1600" b="0" i="0">
                <a:solidFill>
                  <a:srgbClr val="5B6B7B"/>
                </a:solidFill>
                <a:latin typeface="Segoe UI"/>
              </a:rPr>
              <a:t>Seven agents work together in a LangGraph state machine. Deterministic code does the parsing, rendering, and deploying. A single LLM call does only the reasoning. Humans approve the important decisions.</a:t>
            </a:r>
          </a:p>
        </p:txBody>
      </p:sp>
      <p:sp>
        <p:nvSpPr>
          <p:cNvPr id="6" name="Rounded Rectangle 5"/>
          <p:cNvSpPr/>
          <p:nvPr/>
        </p:nvSpPr>
        <p:spPr>
          <a:xfrm>
            <a:off x="640080" y="3063240"/>
            <a:ext cx="3456432" cy="265176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3227832"/>
            <a:ext cx="3090672" cy="274320"/>
          </a:xfrm>
          <a:prstGeom prst="rect">
            <a:avLst/>
          </a:prstGeom>
          <a:noFill/>
        </p:spPr>
        <p:txBody>
          <a:bodyPr wrap="square" anchor="t">
            <a:spAutoFit/>
          </a:bodyPr>
          <a:lstStyle/>
          <a:p>
            <a:pPr algn="l">
              <a:lnSpc>
                <a:spcPct val="100000"/>
              </a:lnSpc>
              <a:spcBef>
                <a:spcPts val="0"/>
              </a:spcBef>
              <a:spcAft>
                <a:spcPts val="400"/>
              </a:spcAft>
            </a:pPr>
            <a:r>
              <a:rPr sz="1100" b="1" i="0">
                <a:solidFill>
                  <a:srgbClr val="5B5BD6"/>
                </a:solidFill>
                <a:latin typeface="Segoe UI"/>
              </a:rPr>
              <a:t>AUDITABLE</a:t>
            </a:r>
          </a:p>
        </p:txBody>
      </p:sp>
      <p:sp>
        <p:nvSpPr>
          <p:cNvPr id="8" name="TextBox 7"/>
          <p:cNvSpPr txBox="1"/>
          <p:nvPr/>
        </p:nvSpPr>
        <p:spPr>
          <a:xfrm>
            <a:off x="841247" y="3520440"/>
            <a:ext cx="3090672" cy="365760"/>
          </a:xfrm>
          <a:prstGeom prst="rect">
            <a:avLst/>
          </a:prstGeom>
          <a:noFill/>
        </p:spPr>
        <p:txBody>
          <a:bodyPr wrap="square" anchor="t">
            <a:spAutoFit/>
          </a:bodyPr>
          <a:lstStyle/>
          <a:p>
            <a:pPr algn="l">
              <a:lnSpc>
                <a:spcPct val="100000"/>
              </a:lnSpc>
              <a:spcBef>
                <a:spcPts val="0"/>
              </a:spcBef>
              <a:spcAft>
                <a:spcPts val="400"/>
              </a:spcAft>
            </a:pPr>
            <a:r>
              <a:rPr sz="1550" b="1" i="0">
                <a:solidFill>
                  <a:srgbClr val="0078D4"/>
                </a:solidFill>
                <a:latin typeface="Segoe UI"/>
              </a:rPr>
              <a:t>Structured, not freeform</a:t>
            </a:r>
          </a:p>
        </p:txBody>
      </p:sp>
      <p:sp>
        <p:nvSpPr>
          <p:cNvPr id="9" name="TextBox 8"/>
          <p:cNvSpPr txBox="1"/>
          <p:nvPr/>
        </p:nvSpPr>
        <p:spPr>
          <a:xfrm>
            <a:off x="841247" y="3904488"/>
            <a:ext cx="3054096" cy="1737360"/>
          </a:xfrm>
          <a:prstGeom prst="rect">
            <a:avLst/>
          </a:prstGeom>
          <a:noFill/>
        </p:spPr>
        <p:txBody>
          <a:bodyPr wrap="square" anchor="t">
            <a:spAutoFit/>
          </a:bodyPr>
          <a:lstStyle/>
          <a:p>
            <a:pPr algn="l">
              <a:lnSpc>
                <a:spcPct val="103000"/>
              </a:lnSpc>
              <a:spcBef>
                <a:spcPts val="0"/>
              </a:spcBef>
              <a:spcAft>
                <a:spcPts val="400"/>
              </a:spcAft>
            </a:pPr>
            <a:r>
              <a:rPr sz="1250" b="0" i="0">
                <a:solidFill>
                  <a:srgbClr val="5B6B7B"/>
                </a:solidFill>
                <a:latin typeface="Segoe UI"/>
              </a:rPr>
              <a:t>The LLM emits a structured JSON migration plan — never raw template text — so every decision is reviewable and replayable.</a:t>
            </a:r>
          </a:p>
        </p:txBody>
      </p:sp>
      <p:sp>
        <p:nvSpPr>
          <p:cNvPr id="10" name="Rounded Rectangle 9"/>
          <p:cNvSpPr/>
          <p:nvPr/>
        </p:nvSpPr>
        <p:spPr>
          <a:xfrm>
            <a:off x="4352544" y="3063240"/>
            <a:ext cx="3456432" cy="265176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3227832"/>
            <a:ext cx="3090672" cy="274320"/>
          </a:xfrm>
          <a:prstGeom prst="rect">
            <a:avLst/>
          </a:prstGeom>
          <a:noFill/>
        </p:spPr>
        <p:txBody>
          <a:bodyPr wrap="square" anchor="t">
            <a:spAutoFit/>
          </a:bodyPr>
          <a:lstStyle/>
          <a:p>
            <a:pPr algn="l">
              <a:lnSpc>
                <a:spcPct val="100000"/>
              </a:lnSpc>
              <a:spcBef>
                <a:spcPts val="0"/>
              </a:spcBef>
              <a:spcAft>
                <a:spcPts val="400"/>
              </a:spcAft>
            </a:pPr>
            <a:r>
              <a:rPr sz="1100" b="1" i="0">
                <a:solidFill>
                  <a:srgbClr val="5B5BD6"/>
                </a:solidFill>
                <a:latin typeface="Segoe UI"/>
              </a:rPr>
              <a:t>SAFE</a:t>
            </a:r>
          </a:p>
        </p:txBody>
      </p:sp>
      <p:sp>
        <p:nvSpPr>
          <p:cNvPr id="12" name="TextBox 11"/>
          <p:cNvSpPr txBox="1"/>
          <p:nvPr/>
        </p:nvSpPr>
        <p:spPr>
          <a:xfrm>
            <a:off x="4553712" y="3520440"/>
            <a:ext cx="3090672" cy="365760"/>
          </a:xfrm>
          <a:prstGeom prst="rect">
            <a:avLst/>
          </a:prstGeom>
          <a:noFill/>
        </p:spPr>
        <p:txBody>
          <a:bodyPr wrap="square" anchor="t">
            <a:spAutoFit/>
          </a:bodyPr>
          <a:lstStyle/>
          <a:p>
            <a:pPr algn="l">
              <a:lnSpc>
                <a:spcPct val="100000"/>
              </a:lnSpc>
              <a:spcBef>
                <a:spcPts val="0"/>
              </a:spcBef>
              <a:spcAft>
                <a:spcPts val="400"/>
              </a:spcAft>
            </a:pPr>
            <a:r>
              <a:rPr sz="1550" b="1" i="0">
                <a:solidFill>
                  <a:srgbClr val="0078D4"/>
                </a:solidFill>
                <a:latin typeface="Segoe UI"/>
              </a:rPr>
              <a:t>Humans stay in control</a:t>
            </a:r>
          </a:p>
        </p:txBody>
      </p:sp>
      <p:sp>
        <p:nvSpPr>
          <p:cNvPr id="13" name="TextBox 12"/>
          <p:cNvSpPr txBox="1"/>
          <p:nvPr/>
        </p:nvSpPr>
        <p:spPr>
          <a:xfrm>
            <a:off x="4553712" y="3904488"/>
            <a:ext cx="3054096" cy="1737360"/>
          </a:xfrm>
          <a:prstGeom prst="rect">
            <a:avLst/>
          </a:prstGeom>
          <a:noFill/>
        </p:spPr>
        <p:txBody>
          <a:bodyPr wrap="square" anchor="t">
            <a:spAutoFit/>
          </a:bodyPr>
          <a:lstStyle/>
          <a:p>
            <a:pPr algn="l">
              <a:lnSpc>
                <a:spcPct val="103000"/>
              </a:lnSpc>
              <a:spcBef>
                <a:spcPts val="0"/>
              </a:spcBef>
              <a:spcAft>
                <a:spcPts val="400"/>
              </a:spcAft>
            </a:pPr>
            <a:r>
              <a:rPr sz="1250" b="0" i="0">
                <a:solidFill>
                  <a:srgbClr val="5B6B7B"/>
                </a:solidFill>
                <a:latin typeface="Segoe UI"/>
              </a:rPr>
              <a:t>Plan review and guardrail scanning are automatic checkpoints; only a real stack conflict ever pauses the run for a human decision.</a:t>
            </a:r>
          </a:p>
        </p:txBody>
      </p:sp>
      <p:sp>
        <p:nvSpPr>
          <p:cNvPr id="14" name="Rounded Rectangle 13"/>
          <p:cNvSpPr/>
          <p:nvPr/>
        </p:nvSpPr>
        <p:spPr>
          <a:xfrm>
            <a:off x="8065007" y="3063240"/>
            <a:ext cx="3456432" cy="265176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66175" y="3227832"/>
            <a:ext cx="3090672" cy="274320"/>
          </a:xfrm>
          <a:prstGeom prst="rect">
            <a:avLst/>
          </a:prstGeom>
          <a:noFill/>
        </p:spPr>
        <p:txBody>
          <a:bodyPr wrap="square" anchor="t">
            <a:spAutoFit/>
          </a:bodyPr>
          <a:lstStyle/>
          <a:p>
            <a:pPr algn="l">
              <a:lnSpc>
                <a:spcPct val="100000"/>
              </a:lnSpc>
              <a:spcBef>
                <a:spcPts val="0"/>
              </a:spcBef>
              <a:spcAft>
                <a:spcPts val="400"/>
              </a:spcAft>
            </a:pPr>
            <a:r>
              <a:rPr sz="1100" b="1" i="0">
                <a:solidFill>
                  <a:srgbClr val="5B5BD6"/>
                </a:solidFill>
                <a:latin typeface="Segoe UI"/>
              </a:rPr>
              <a:t>RELIABLE</a:t>
            </a:r>
          </a:p>
        </p:txBody>
      </p:sp>
      <p:sp>
        <p:nvSpPr>
          <p:cNvPr id="16" name="TextBox 15"/>
          <p:cNvSpPr txBox="1"/>
          <p:nvPr/>
        </p:nvSpPr>
        <p:spPr>
          <a:xfrm>
            <a:off x="8266175" y="3520440"/>
            <a:ext cx="3090672" cy="365760"/>
          </a:xfrm>
          <a:prstGeom prst="rect">
            <a:avLst/>
          </a:prstGeom>
          <a:noFill/>
        </p:spPr>
        <p:txBody>
          <a:bodyPr wrap="square" anchor="t">
            <a:spAutoFit/>
          </a:bodyPr>
          <a:lstStyle/>
          <a:p>
            <a:pPr algn="l">
              <a:lnSpc>
                <a:spcPct val="100000"/>
              </a:lnSpc>
              <a:spcBef>
                <a:spcPts val="0"/>
              </a:spcBef>
              <a:spcAft>
                <a:spcPts val="400"/>
              </a:spcAft>
            </a:pPr>
            <a:r>
              <a:rPr sz="1550" b="1" i="0">
                <a:solidFill>
                  <a:srgbClr val="0078D4"/>
                </a:solidFill>
                <a:latin typeface="Segoe UI"/>
              </a:rPr>
              <a:t>Self-correcting</a:t>
            </a:r>
          </a:p>
        </p:txBody>
      </p:sp>
      <p:sp>
        <p:nvSpPr>
          <p:cNvPr id="17" name="TextBox 16"/>
          <p:cNvSpPr txBox="1"/>
          <p:nvPr/>
        </p:nvSpPr>
        <p:spPr>
          <a:xfrm>
            <a:off x="8266175" y="3904488"/>
            <a:ext cx="3054096" cy="1737360"/>
          </a:xfrm>
          <a:prstGeom prst="rect">
            <a:avLst/>
          </a:prstGeom>
          <a:noFill/>
        </p:spPr>
        <p:txBody>
          <a:bodyPr wrap="square" anchor="t">
            <a:spAutoFit/>
          </a:bodyPr>
          <a:lstStyle/>
          <a:p>
            <a:pPr algn="l">
              <a:lnSpc>
                <a:spcPct val="103000"/>
              </a:lnSpc>
              <a:spcBef>
                <a:spcPts val="0"/>
              </a:spcBef>
              <a:spcAft>
                <a:spcPts val="400"/>
              </a:spcAft>
            </a:pPr>
            <a:r>
              <a:rPr sz="1250" b="0" i="0">
                <a:solidFill>
                  <a:srgbClr val="5B6B7B"/>
                </a:solidFill>
                <a:latin typeface="Segoe UI"/>
              </a:rPr>
              <a:t>Validation failures loop back to the reasoning step with feedback, so the pipeline fixes its own mistakes.</a:t>
            </a:r>
          </a:p>
        </p:txBody>
      </p:sp>
      <p:sp>
        <p:nvSpPr>
          <p:cNvPr id="18" name="Rectangle 17"/>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20" name="TextBox 19"/>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4 · The Solution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DIFFERENTIATION</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How this is different from existing tools</a:t>
            </a:r>
          </a:p>
        </p:txBody>
      </p:sp>
      <p:sp>
        <p:nvSpPr>
          <p:cNvPr id="5" name="TextBox 4"/>
          <p:cNvSpPr txBox="1"/>
          <p:nvPr/>
        </p:nvSpPr>
        <p:spPr>
          <a:xfrm>
            <a:off x="640080" y="1554480"/>
            <a:ext cx="10881360" cy="731520"/>
          </a:xfrm>
          <a:prstGeom prst="rect">
            <a:avLst/>
          </a:prstGeom>
          <a:noFill/>
        </p:spPr>
        <p:txBody>
          <a:bodyPr wrap="square" anchor="t">
            <a:spAutoFit/>
          </a:bodyPr>
          <a:lstStyle/>
          <a:p>
            <a:pPr algn="l">
              <a:lnSpc>
                <a:spcPct val="115000"/>
              </a:lnSpc>
              <a:spcBef>
                <a:spcPts val="0"/>
              </a:spcBef>
              <a:spcAft>
                <a:spcPts val="400"/>
              </a:spcAft>
            </a:pPr>
            <a:r>
              <a:rPr sz="1500" b="0" i="0">
                <a:solidFill>
                  <a:srgbClr val="5B6B7B"/>
                </a:solidFill>
                <a:latin typeface="Segoe UI"/>
              </a:rPr>
              <a:t>Existing tools either reverse-engineer a live cloud account or move workloads within one cloud. None do source-code-level, cross-cloud IaC translation with self-correction, guardrails, and gated deployment.</a:t>
            </a:r>
          </a:p>
        </p:txBody>
      </p:sp>
      <p:sp>
        <p:nvSpPr>
          <p:cNvPr id="6" name="TextBox 5"/>
          <p:cNvSpPr txBox="1"/>
          <p:nvPr/>
        </p:nvSpPr>
        <p:spPr>
          <a:xfrm>
            <a:off x="640080" y="2514600"/>
            <a:ext cx="1463040" cy="274320"/>
          </a:xfrm>
          <a:prstGeom prst="rect">
            <a:avLst/>
          </a:prstGeom>
          <a:noFill/>
        </p:spPr>
        <p:txBody>
          <a:bodyPr wrap="square" anchor="t">
            <a:spAutoFit/>
          </a:bodyPr>
          <a:lstStyle/>
          <a:p>
            <a:pPr algn="l">
              <a:lnSpc>
                <a:spcPct val="100000"/>
              </a:lnSpc>
              <a:spcBef>
                <a:spcPts val="0"/>
              </a:spcBef>
              <a:spcAft>
                <a:spcPts val="400"/>
              </a:spcAft>
            </a:pPr>
            <a:r>
              <a:rPr sz="1050" b="1" i="0">
                <a:solidFill>
                  <a:srgbClr val="5B6B7B"/>
                </a:solidFill>
                <a:latin typeface="Segoe UI"/>
              </a:rPr>
              <a:t>TOOL</a:t>
            </a:r>
          </a:p>
        </p:txBody>
      </p:sp>
      <p:sp>
        <p:nvSpPr>
          <p:cNvPr id="7" name="TextBox 6"/>
          <p:cNvSpPr txBox="1"/>
          <p:nvPr/>
        </p:nvSpPr>
        <p:spPr>
          <a:xfrm>
            <a:off x="2103120" y="2514600"/>
            <a:ext cx="3657600" cy="274320"/>
          </a:xfrm>
          <a:prstGeom prst="rect">
            <a:avLst/>
          </a:prstGeom>
          <a:noFill/>
        </p:spPr>
        <p:txBody>
          <a:bodyPr wrap="square" anchor="t">
            <a:spAutoFit/>
          </a:bodyPr>
          <a:lstStyle/>
          <a:p>
            <a:pPr algn="l">
              <a:lnSpc>
                <a:spcPct val="100000"/>
              </a:lnSpc>
              <a:spcBef>
                <a:spcPts val="0"/>
              </a:spcBef>
              <a:spcAft>
                <a:spcPts val="400"/>
              </a:spcAft>
            </a:pPr>
            <a:r>
              <a:rPr sz="1050" b="1" i="0">
                <a:solidFill>
                  <a:srgbClr val="5B6B7B"/>
                </a:solidFill>
                <a:latin typeface="Segoe UI"/>
              </a:rPr>
              <a:t>APPROACH</a:t>
            </a:r>
          </a:p>
        </p:txBody>
      </p:sp>
      <p:sp>
        <p:nvSpPr>
          <p:cNvPr id="8" name="TextBox 7"/>
          <p:cNvSpPr txBox="1"/>
          <p:nvPr/>
        </p:nvSpPr>
        <p:spPr>
          <a:xfrm>
            <a:off x="5760720" y="2514600"/>
            <a:ext cx="1325880" cy="274320"/>
          </a:xfrm>
          <a:prstGeom prst="rect">
            <a:avLst/>
          </a:prstGeom>
          <a:noFill/>
        </p:spPr>
        <p:txBody>
          <a:bodyPr wrap="square" anchor="t">
            <a:spAutoFit/>
          </a:bodyPr>
          <a:lstStyle/>
          <a:p>
            <a:pPr algn="l">
              <a:lnSpc>
                <a:spcPct val="100000"/>
              </a:lnSpc>
              <a:spcBef>
                <a:spcPts val="0"/>
              </a:spcBef>
              <a:spcAft>
                <a:spcPts val="400"/>
              </a:spcAft>
            </a:pPr>
            <a:r>
              <a:rPr sz="1050" b="1" i="0">
                <a:solidFill>
                  <a:srgbClr val="5B6B7B"/>
                </a:solidFill>
                <a:latin typeface="Segoe UI"/>
              </a:rPr>
              <a:t>CROSS-CLOUD</a:t>
            </a:r>
          </a:p>
        </p:txBody>
      </p:sp>
      <p:sp>
        <p:nvSpPr>
          <p:cNvPr id="9" name="TextBox 8"/>
          <p:cNvSpPr txBox="1"/>
          <p:nvPr/>
        </p:nvSpPr>
        <p:spPr>
          <a:xfrm>
            <a:off x="7086600" y="2514600"/>
            <a:ext cx="1325880" cy="274320"/>
          </a:xfrm>
          <a:prstGeom prst="rect">
            <a:avLst/>
          </a:prstGeom>
          <a:noFill/>
        </p:spPr>
        <p:txBody>
          <a:bodyPr wrap="square" anchor="t">
            <a:spAutoFit/>
          </a:bodyPr>
          <a:lstStyle/>
          <a:p>
            <a:pPr algn="l">
              <a:lnSpc>
                <a:spcPct val="100000"/>
              </a:lnSpc>
              <a:spcBef>
                <a:spcPts val="0"/>
              </a:spcBef>
              <a:spcAft>
                <a:spcPts val="400"/>
              </a:spcAft>
            </a:pPr>
            <a:r>
              <a:rPr sz="1050" b="1" i="0">
                <a:solidFill>
                  <a:srgbClr val="5B6B7B"/>
                </a:solidFill>
                <a:latin typeface="Segoe UI"/>
              </a:rPr>
              <a:t>SELF-CORRECT</a:t>
            </a:r>
          </a:p>
        </p:txBody>
      </p:sp>
      <p:sp>
        <p:nvSpPr>
          <p:cNvPr id="10" name="TextBox 9"/>
          <p:cNvSpPr txBox="1"/>
          <p:nvPr/>
        </p:nvSpPr>
        <p:spPr>
          <a:xfrm>
            <a:off x="8412480" y="2514600"/>
            <a:ext cx="1554480" cy="274320"/>
          </a:xfrm>
          <a:prstGeom prst="rect">
            <a:avLst/>
          </a:prstGeom>
          <a:noFill/>
        </p:spPr>
        <p:txBody>
          <a:bodyPr wrap="square" anchor="t">
            <a:spAutoFit/>
          </a:bodyPr>
          <a:lstStyle/>
          <a:p>
            <a:pPr algn="l">
              <a:lnSpc>
                <a:spcPct val="100000"/>
              </a:lnSpc>
              <a:spcBef>
                <a:spcPts val="0"/>
              </a:spcBef>
              <a:spcAft>
                <a:spcPts val="400"/>
              </a:spcAft>
            </a:pPr>
            <a:r>
              <a:rPr sz="1050" b="1" i="0">
                <a:solidFill>
                  <a:srgbClr val="5B6B7B"/>
                </a:solidFill>
                <a:latin typeface="Segoe UI"/>
              </a:rPr>
              <a:t>SECURITY GATE</a:t>
            </a:r>
          </a:p>
        </p:txBody>
      </p:sp>
      <p:sp>
        <p:nvSpPr>
          <p:cNvPr id="11" name="TextBox 10"/>
          <p:cNvSpPr txBox="1"/>
          <p:nvPr/>
        </p:nvSpPr>
        <p:spPr>
          <a:xfrm>
            <a:off x="9966960" y="2514600"/>
            <a:ext cx="1581912" cy="274320"/>
          </a:xfrm>
          <a:prstGeom prst="rect">
            <a:avLst/>
          </a:prstGeom>
          <a:noFill/>
        </p:spPr>
        <p:txBody>
          <a:bodyPr wrap="square" anchor="t">
            <a:spAutoFit/>
          </a:bodyPr>
          <a:lstStyle/>
          <a:p>
            <a:pPr algn="l">
              <a:lnSpc>
                <a:spcPct val="100000"/>
              </a:lnSpc>
              <a:spcBef>
                <a:spcPts val="0"/>
              </a:spcBef>
              <a:spcAft>
                <a:spcPts val="400"/>
              </a:spcAft>
            </a:pPr>
            <a:r>
              <a:rPr sz="1050" b="1" i="0">
                <a:solidFill>
                  <a:srgbClr val="5B6B7B"/>
                </a:solidFill>
                <a:latin typeface="Segoe UI"/>
              </a:rPr>
              <a:t>HUMAN-GATED</a:t>
            </a:r>
          </a:p>
        </p:txBody>
      </p:sp>
      <p:sp>
        <p:nvSpPr>
          <p:cNvPr id="12" name="Rectangle 11"/>
          <p:cNvSpPr/>
          <p:nvPr/>
        </p:nvSpPr>
        <p:spPr>
          <a:xfrm>
            <a:off x="640080" y="2843784"/>
            <a:ext cx="10908792" cy="10972"/>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008376"/>
            <a:ext cx="1463040" cy="365760"/>
          </a:xfrm>
          <a:prstGeom prst="rect">
            <a:avLst/>
          </a:prstGeom>
          <a:noFill/>
        </p:spPr>
        <p:txBody>
          <a:bodyPr wrap="square" anchor="t">
            <a:spAutoFit/>
          </a:bodyPr>
          <a:lstStyle/>
          <a:p>
            <a:pPr algn="l">
              <a:lnSpc>
                <a:spcPct val="95000"/>
              </a:lnSpc>
              <a:spcBef>
                <a:spcPts val="0"/>
              </a:spcBef>
              <a:spcAft>
                <a:spcPts val="400"/>
              </a:spcAft>
            </a:pPr>
            <a:r>
              <a:rPr sz="1200" b="1" i="0">
                <a:solidFill>
                  <a:srgbClr val="1B2733"/>
                </a:solidFill>
                <a:latin typeface="Segoe UI"/>
              </a:rPr>
              <a:t>Former2</a:t>
            </a:r>
          </a:p>
        </p:txBody>
      </p:sp>
      <p:sp>
        <p:nvSpPr>
          <p:cNvPr id="14" name="TextBox 13"/>
          <p:cNvSpPr txBox="1"/>
          <p:nvPr/>
        </p:nvSpPr>
        <p:spPr>
          <a:xfrm>
            <a:off x="2103120" y="3008376"/>
            <a:ext cx="365760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Reverse-engineers a live AWS account into IaC</a:t>
            </a:r>
          </a:p>
        </p:txBody>
      </p:sp>
      <p:sp>
        <p:nvSpPr>
          <p:cNvPr id="15" name="TextBox 14"/>
          <p:cNvSpPr txBox="1"/>
          <p:nvPr/>
        </p:nvSpPr>
        <p:spPr>
          <a:xfrm>
            <a:off x="5760720" y="3008376"/>
            <a:ext cx="132588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No</a:t>
            </a:r>
          </a:p>
        </p:txBody>
      </p:sp>
      <p:sp>
        <p:nvSpPr>
          <p:cNvPr id="16" name="TextBox 15"/>
          <p:cNvSpPr txBox="1"/>
          <p:nvPr/>
        </p:nvSpPr>
        <p:spPr>
          <a:xfrm>
            <a:off x="7086600" y="3008376"/>
            <a:ext cx="132588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a:t>
            </a:r>
          </a:p>
        </p:txBody>
      </p:sp>
      <p:sp>
        <p:nvSpPr>
          <p:cNvPr id="17" name="TextBox 16"/>
          <p:cNvSpPr txBox="1"/>
          <p:nvPr/>
        </p:nvSpPr>
        <p:spPr>
          <a:xfrm>
            <a:off x="8412480" y="3008376"/>
            <a:ext cx="155448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a:t>
            </a:r>
          </a:p>
        </p:txBody>
      </p:sp>
      <p:sp>
        <p:nvSpPr>
          <p:cNvPr id="18" name="TextBox 17"/>
          <p:cNvSpPr txBox="1"/>
          <p:nvPr/>
        </p:nvSpPr>
        <p:spPr>
          <a:xfrm>
            <a:off x="9966960" y="3008376"/>
            <a:ext cx="1581912"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a:t>
            </a:r>
          </a:p>
        </p:txBody>
      </p:sp>
      <p:sp>
        <p:nvSpPr>
          <p:cNvPr id="19" name="TextBox 18"/>
          <p:cNvSpPr txBox="1"/>
          <p:nvPr/>
        </p:nvSpPr>
        <p:spPr>
          <a:xfrm>
            <a:off x="640080" y="3630168"/>
            <a:ext cx="1463040" cy="365760"/>
          </a:xfrm>
          <a:prstGeom prst="rect">
            <a:avLst/>
          </a:prstGeom>
          <a:noFill/>
        </p:spPr>
        <p:txBody>
          <a:bodyPr wrap="square" anchor="t">
            <a:spAutoFit/>
          </a:bodyPr>
          <a:lstStyle/>
          <a:p>
            <a:pPr algn="l">
              <a:lnSpc>
                <a:spcPct val="95000"/>
              </a:lnSpc>
              <a:spcBef>
                <a:spcPts val="0"/>
              </a:spcBef>
              <a:spcAft>
                <a:spcPts val="400"/>
              </a:spcAft>
            </a:pPr>
            <a:r>
              <a:rPr sz="1200" b="1" i="0">
                <a:solidFill>
                  <a:srgbClr val="1B2733"/>
                </a:solidFill>
                <a:latin typeface="Segoe UI"/>
              </a:rPr>
              <a:t>cf-terraform</a:t>
            </a:r>
          </a:p>
        </p:txBody>
      </p:sp>
      <p:sp>
        <p:nvSpPr>
          <p:cNvPr id="20" name="TextBox 19"/>
          <p:cNvSpPr txBox="1"/>
          <p:nvPr/>
        </p:nvSpPr>
        <p:spPr>
          <a:xfrm>
            <a:off x="2103120" y="3630168"/>
            <a:ext cx="365760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Converts CloudFormation ↔ Terraform</a:t>
            </a:r>
          </a:p>
        </p:txBody>
      </p:sp>
      <p:sp>
        <p:nvSpPr>
          <p:cNvPr id="21" name="TextBox 20"/>
          <p:cNvSpPr txBox="1"/>
          <p:nvPr/>
        </p:nvSpPr>
        <p:spPr>
          <a:xfrm>
            <a:off x="5760720" y="3630168"/>
            <a:ext cx="132588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No</a:t>
            </a:r>
          </a:p>
        </p:txBody>
      </p:sp>
      <p:sp>
        <p:nvSpPr>
          <p:cNvPr id="22" name="TextBox 21"/>
          <p:cNvSpPr txBox="1"/>
          <p:nvPr/>
        </p:nvSpPr>
        <p:spPr>
          <a:xfrm>
            <a:off x="7086600" y="3630168"/>
            <a:ext cx="132588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a:t>
            </a:r>
          </a:p>
        </p:txBody>
      </p:sp>
      <p:sp>
        <p:nvSpPr>
          <p:cNvPr id="23" name="TextBox 22"/>
          <p:cNvSpPr txBox="1"/>
          <p:nvPr/>
        </p:nvSpPr>
        <p:spPr>
          <a:xfrm>
            <a:off x="8412480" y="3630168"/>
            <a:ext cx="155448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a:t>
            </a:r>
          </a:p>
        </p:txBody>
      </p:sp>
      <p:sp>
        <p:nvSpPr>
          <p:cNvPr id="24" name="TextBox 23"/>
          <p:cNvSpPr txBox="1"/>
          <p:nvPr/>
        </p:nvSpPr>
        <p:spPr>
          <a:xfrm>
            <a:off x="9966960" y="3630168"/>
            <a:ext cx="1581912"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a:t>
            </a:r>
          </a:p>
        </p:txBody>
      </p:sp>
      <p:sp>
        <p:nvSpPr>
          <p:cNvPr id="25" name="TextBox 24"/>
          <p:cNvSpPr txBox="1"/>
          <p:nvPr/>
        </p:nvSpPr>
        <p:spPr>
          <a:xfrm>
            <a:off x="640080" y="4251959"/>
            <a:ext cx="1463040" cy="365760"/>
          </a:xfrm>
          <a:prstGeom prst="rect">
            <a:avLst/>
          </a:prstGeom>
          <a:noFill/>
        </p:spPr>
        <p:txBody>
          <a:bodyPr wrap="square" anchor="t">
            <a:spAutoFit/>
          </a:bodyPr>
          <a:lstStyle/>
          <a:p>
            <a:pPr algn="l">
              <a:lnSpc>
                <a:spcPct val="95000"/>
              </a:lnSpc>
              <a:spcBef>
                <a:spcPts val="0"/>
              </a:spcBef>
              <a:spcAft>
                <a:spcPts val="400"/>
              </a:spcAft>
            </a:pPr>
            <a:r>
              <a:rPr sz="1200" b="1" i="0">
                <a:solidFill>
                  <a:srgbClr val="1B2733"/>
                </a:solidFill>
                <a:latin typeface="Segoe UI"/>
              </a:rPr>
              <a:t>Azure Migrate</a:t>
            </a:r>
          </a:p>
        </p:txBody>
      </p:sp>
      <p:sp>
        <p:nvSpPr>
          <p:cNvPr id="26" name="TextBox 25"/>
          <p:cNvSpPr txBox="1"/>
          <p:nvPr/>
        </p:nvSpPr>
        <p:spPr>
          <a:xfrm>
            <a:off x="2103120" y="4251959"/>
            <a:ext cx="365760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Moves workloads within / into Azure</a:t>
            </a:r>
          </a:p>
        </p:txBody>
      </p:sp>
      <p:sp>
        <p:nvSpPr>
          <p:cNvPr id="27" name="TextBox 26"/>
          <p:cNvSpPr txBox="1"/>
          <p:nvPr/>
        </p:nvSpPr>
        <p:spPr>
          <a:xfrm>
            <a:off x="5760720" y="4251959"/>
            <a:ext cx="132588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No</a:t>
            </a:r>
          </a:p>
        </p:txBody>
      </p:sp>
      <p:sp>
        <p:nvSpPr>
          <p:cNvPr id="28" name="TextBox 27"/>
          <p:cNvSpPr txBox="1"/>
          <p:nvPr/>
        </p:nvSpPr>
        <p:spPr>
          <a:xfrm>
            <a:off x="7086600" y="4251959"/>
            <a:ext cx="132588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a:t>
            </a:r>
          </a:p>
        </p:txBody>
      </p:sp>
      <p:sp>
        <p:nvSpPr>
          <p:cNvPr id="29" name="TextBox 28"/>
          <p:cNvSpPr txBox="1"/>
          <p:nvPr/>
        </p:nvSpPr>
        <p:spPr>
          <a:xfrm>
            <a:off x="8412480" y="4251959"/>
            <a:ext cx="155448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a:t>
            </a:r>
          </a:p>
        </p:txBody>
      </p:sp>
      <p:sp>
        <p:nvSpPr>
          <p:cNvPr id="30" name="TextBox 29"/>
          <p:cNvSpPr txBox="1"/>
          <p:nvPr/>
        </p:nvSpPr>
        <p:spPr>
          <a:xfrm>
            <a:off x="9966960" y="4251959"/>
            <a:ext cx="1581912"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a:t>
            </a:r>
          </a:p>
        </p:txBody>
      </p:sp>
      <p:sp>
        <p:nvSpPr>
          <p:cNvPr id="31" name="Rounded Rectangle 30"/>
          <p:cNvSpPr/>
          <p:nvPr/>
        </p:nvSpPr>
        <p:spPr>
          <a:xfrm>
            <a:off x="566928" y="4745736"/>
            <a:ext cx="11018520" cy="566928"/>
          </a:xfrm>
          <a:prstGeom prst="roundRect">
            <a:avLst/>
          </a:prstGeom>
          <a:solidFill>
            <a:srgbClr val="E7F6EA"/>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4873751"/>
            <a:ext cx="1463040" cy="365760"/>
          </a:xfrm>
          <a:prstGeom prst="rect">
            <a:avLst/>
          </a:prstGeom>
          <a:noFill/>
        </p:spPr>
        <p:txBody>
          <a:bodyPr wrap="square" anchor="t">
            <a:spAutoFit/>
          </a:bodyPr>
          <a:lstStyle/>
          <a:p>
            <a:pPr algn="l">
              <a:lnSpc>
                <a:spcPct val="95000"/>
              </a:lnSpc>
              <a:spcBef>
                <a:spcPts val="0"/>
              </a:spcBef>
              <a:spcAft>
                <a:spcPts val="400"/>
              </a:spcAft>
            </a:pPr>
            <a:r>
              <a:rPr sz="1200" b="1" i="0">
                <a:solidFill>
                  <a:srgbClr val="1B2733"/>
                </a:solidFill>
                <a:latin typeface="Segoe UI"/>
              </a:rPr>
              <a:t>This project</a:t>
            </a:r>
          </a:p>
        </p:txBody>
      </p:sp>
      <p:sp>
        <p:nvSpPr>
          <p:cNvPr id="33" name="TextBox 32"/>
          <p:cNvSpPr txBox="1"/>
          <p:nvPr/>
        </p:nvSpPr>
        <p:spPr>
          <a:xfrm>
            <a:off x="2103120" y="4873751"/>
            <a:ext cx="365760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Source Bicep → CloudFormation across clouds</a:t>
            </a:r>
          </a:p>
        </p:txBody>
      </p:sp>
      <p:sp>
        <p:nvSpPr>
          <p:cNvPr id="34" name="TextBox 33"/>
          <p:cNvSpPr txBox="1"/>
          <p:nvPr/>
        </p:nvSpPr>
        <p:spPr>
          <a:xfrm>
            <a:off x="5760720" y="4873751"/>
            <a:ext cx="1325880" cy="365760"/>
          </a:xfrm>
          <a:prstGeom prst="rect">
            <a:avLst/>
          </a:prstGeom>
          <a:noFill/>
        </p:spPr>
        <p:txBody>
          <a:bodyPr wrap="square" anchor="t">
            <a:spAutoFit/>
          </a:bodyPr>
          <a:lstStyle/>
          <a:p>
            <a:pPr algn="l">
              <a:lnSpc>
                <a:spcPct val="95000"/>
              </a:lnSpc>
              <a:spcBef>
                <a:spcPts val="0"/>
              </a:spcBef>
              <a:spcAft>
                <a:spcPts val="400"/>
              </a:spcAft>
            </a:pPr>
            <a:r>
              <a:rPr sz="1200" b="1" i="0">
                <a:solidFill>
                  <a:srgbClr val="1B2733"/>
                </a:solidFill>
                <a:latin typeface="Segoe UI"/>
              </a:rPr>
              <a:t>Yes</a:t>
            </a:r>
          </a:p>
        </p:txBody>
      </p:sp>
      <p:sp>
        <p:nvSpPr>
          <p:cNvPr id="35" name="TextBox 34"/>
          <p:cNvSpPr txBox="1"/>
          <p:nvPr/>
        </p:nvSpPr>
        <p:spPr>
          <a:xfrm>
            <a:off x="7086600" y="4873751"/>
            <a:ext cx="1325880" cy="365760"/>
          </a:xfrm>
          <a:prstGeom prst="rect">
            <a:avLst/>
          </a:prstGeom>
          <a:noFill/>
        </p:spPr>
        <p:txBody>
          <a:bodyPr wrap="square" anchor="t">
            <a:spAutoFit/>
          </a:bodyPr>
          <a:lstStyle/>
          <a:p>
            <a:pPr algn="l">
              <a:lnSpc>
                <a:spcPct val="95000"/>
              </a:lnSpc>
              <a:spcBef>
                <a:spcPts val="0"/>
              </a:spcBef>
              <a:spcAft>
                <a:spcPts val="400"/>
              </a:spcAft>
            </a:pPr>
            <a:r>
              <a:rPr sz="1200" b="1" i="0">
                <a:solidFill>
                  <a:srgbClr val="1B2733"/>
                </a:solidFill>
                <a:latin typeface="Segoe UI"/>
              </a:rPr>
              <a:t>Yes</a:t>
            </a:r>
          </a:p>
        </p:txBody>
      </p:sp>
      <p:sp>
        <p:nvSpPr>
          <p:cNvPr id="36" name="TextBox 35"/>
          <p:cNvSpPr txBox="1"/>
          <p:nvPr/>
        </p:nvSpPr>
        <p:spPr>
          <a:xfrm>
            <a:off x="8412480" y="4873751"/>
            <a:ext cx="1554480" cy="365760"/>
          </a:xfrm>
          <a:prstGeom prst="rect">
            <a:avLst/>
          </a:prstGeom>
          <a:noFill/>
        </p:spPr>
        <p:txBody>
          <a:bodyPr wrap="square" anchor="t">
            <a:spAutoFit/>
          </a:bodyPr>
          <a:lstStyle/>
          <a:p>
            <a:pPr algn="l">
              <a:lnSpc>
                <a:spcPct val="95000"/>
              </a:lnSpc>
              <a:spcBef>
                <a:spcPts val="0"/>
              </a:spcBef>
              <a:spcAft>
                <a:spcPts val="400"/>
              </a:spcAft>
            </a:pPr>
            <a:r>
              <a:rPr sz="1200" b="1" i="0">
                <a:solidFill>
                  <a:srgbClr val="1B2733"/>
                </a:solidFill>
                <a:latin typeface="Segoe UI"/>
              </a:rPr>
              <a:t>Yes</a:t>
            </a:r>
          </a:p>
        </p:txBody>
      </p:sp>
      <p:sp>
        <p:nvSpPr>
          <p:cNvPr id="37" name="TextBox 36"/>
          <p:cNvSpPr txBox="1"/>
          <p:nvPr/>
        </p:nvSpPr>
        <p:spPr>
          <a:xfrm>
            <a:off x="9966960" y="4873751"/>
            <a:ext cx="1581912" cy="365760"/>
          </a:xfrm>
          <a:prstGeom prst="rect">
            <a:avLst/>
          </a:prstGeom>
          <a:noFill/>
        </p:spPr>
        <p:txBody>
          <a:bodyPr wrap="square" anchor="t">
            <a:spAutoFit/>
          </a:bodyPr>
          <a:lstStyle/>
          <a:p>
            <a:pPr algn="l">
              <a:lnSpc>
                <a:spcPct val="95000"/>
              </a:lnSpc>
              <a:spcBef>
                <a:spcPts val="0"/>
              </a:spcBef>
              <a:spcAft>
                <a:spcPts val="400"/>
              </a:spcAft>
            </a:pPr>
            <a:r>
              <a:rPr sz="1200" b="1" i="0">
                <a:solidFill>
                  <a:srgbClr val="1B2733"/>
                </a:solidFill>
                <a:latin typeface="Segoe UI"/>
              </a:rPr>
              <a:t>Yes</a:t>
            </a:r>
          </a:p>
        </p:txBody>
      </p:sp>
      <p:sp>
        <p:nvSpPr>
          <p:cNvPr id="38" name="TextBox 37"/>
          <p:cNvSpPr txBox="1"/>
          <p:nvPr/>
        </p:nvSpPr>
        <p:spPr>
          <a:xfrm>
            <a:off x="640080" y="5806440"/>
            <a:ext cx="10881360" cy="548640"/>
          </a:xfrm>
          <a:prstGeom prst="rect">
            <a:avLst/>
          </a:prstGeom>
          <a:noFill/>
        </p:spPr>
        <p:txBody>
          <a:bodyPr wrap="square" anchor="t">
            <a:spAutoFit/>
          </a:bodyPr>
          <a:lstStyle/>
          <a:p>
            <a:pPr algn="l">
              <a:lnSpc>
                <a:spcPct val="110000"/>
              </a:lnSpc>
              <a:spcBef>
                <a:spcPts val="0"/>
              </a:spcBef>
              <a:spcAft>
                <a:spcPts val="400"/>
              </a:spcAft>
            </a:pPr>
            <a:r>
              <a:rPr sz="1400" b="1" i="0">
                <a:solidFill>
                  <a:srgbClr val="1B2733"/>
                </a:solidFill>
                <a:latin typeface="Segoe UI"/>
              </a:rPr>
              <a:t>The unique combination: </a:t>
            </a:r>
            <a:r>
              <a:rPr sz="1400" b="0" i="0">
                <a:solidFill>
                  <a:srgbClr val="5B6B7B"/>
                </a:solidFill>
                <a:latin typeface="Segoe UI"/>
              </a:rPr>
              <a:t>deterministic-render / LLM-reason split, security guardrails, secret protection, and a self-extending knowledge base — purpose-built for safe cross-cloud migration.</a:t>
            </a:r>
          </a:p>
        </p:txBody>
      </p:sp>
      <p:sp>
        <p:nvSpPr>
          <p:cNvPr id="39" name="Rectangle 38"/>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41" name="TextBox 40"/>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5 · Differentiation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CORE DESIGN PRINCIPLE</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Separate reasoning from execution</a:t>
            </a:r>
          </a:p>
        </p:txBody>
      </p:sp>
      <p:sp>
        <p:nvSpPr>
          <p:cNvPr id="5" name="TextBox 4"/>
          <p:cNvSpPr txBox="1"/>
          <p:nvPr/>
        </p:nvSpPr>
        <p:spPr>
          <a:xfrm>
            <a:off x="640080" y="1600200"/>
            <a:ext cx="10881360" cy="640080"/>
          </a:xfrm>
          <a:prstGeom prst="rect">
            <a:avLst/>
          </a:prstGeom>
          <a:noFill/>
        </p:spPr>
        <p:txBody>
          <a:bodyPr wrap="square" anchor="t">
            <a:spAutoFit/>
          </a:bodyPr>
          <a:lstStyle/>
          <a:p>
            <a:pPr algn="l">
              <a:lnSpc>
                <a:spcPct val="115000"/>
              </a:lnSpc>
              <a:spcBef>
                <a:spcPts val="0"/>
              </a:spcBef>
              <a:spcAft>
                <a:spcPts val="400"/>
              </a:spcAft>
            </a:pPr>
            <a:r>
              <a:rPr sz="1600" b="1" i="0">
                <a:solidFill>
                  <a:srgbClr val="1B2733"/>
                </a:solidFill>
                <a:latin typeface="Segoe UI"/>
              </a:rPr>
              <a:t>The key rule: </a:t>
            </a:r>
            <a:r>
              <a:rPr sz="1600" b="0" i="0">
                <a:solidFill>
                  <a:srgbClr val="5B6B7B"/>
                </a:solidFill>
                <a:latin typeface="Segoe UI"/>
              </a:rPr>
              <a:t>the LLM only reasons and produces a plan — it never writes CloudFormation syntax directly. Everything else is deterministic code.</a:t>
            </a:r>
          </a:p>
        </p:txBody>
      </p:sp>
      <p:sp>
        <p:nvSpPr>
          <p:cNvPr id="6" name="Rounded Rectangle 5"/>
          <p:cNvSpPr/>
          <p:nvPr/>
        </p:nvSpPr>
        <p:spPr>
          <a:xfrm>
            <a:off x="640080" y="2606040"/>
            <a:ext cx="5349240" cy="2377440"/>
          </a:xfrm>
          <a:prstGeom prst="roundRect">
            <a:avLst/>
          </a:prstGeom>
          <a:solidFill>
            <a:srgbClr val="FFF3E6"/>
          </a:solidFill>
          <a:ln w="15875">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788920"/>
            <a:ext cx="4937760" cy="365760"/>
          </a:xfrm>
          <a:prstGeom prst="rect">
            <a:avLst/>
          </a:prstGeom>
          <a:noFill/>
        </p:spPr>
        <p:txBody>
          <a:bodyPr wrap="square" anchor="t">
            <a:spAutoFit/>
          </a:bodyPr>
          <a:lstStyle/>
          <a:p>
            <a:pPr algn="l">
              <a:lnSpc>
                <a:spcPct val="100000"/>
              </a:lnSpc>
              <a:spcBef>
                <a:spcPts val="0"/>
              </a:spcBef>
              <a:spcAft>
                <a:spcPts val="400"/>
              </a:spcAft>
            </a:pPr>
            <a:r>
              <a:rPr sz="1600" b="1" i="0">
                <a:solidFill>
                  <a:srgbClr val="D2691E"/>
                </a:solidFill>
                <a:latin typeface="Segoe UI"/>
              </a:rPr>
              <a:t>LLM reasoning (AWS Bedrock)</a:t>
            </a:r>
          </a:p>
        </p:txBody>
      </p:sp>
      <p:sp>
        <p:nvSpPr>
          <p:cNvPr id="8" name="TextBox 7"/>
          <p:cNvSpPr txBox="1"/>
          <p:nvPr/>
        </p:nvSpPr>
        <p:spPr>
          <a:xfrm>
            <a:off x="868680" y="3291840"/>
            <a:ext cx="4937760" cy="1645920"/>
          </a:xfrm>
          <a:prstGeom prst="rect">
            <a:avLst/>
          </a:prstGeom>
          <a:noFill/>
        </p:spPr>
        <p:txBody>
          <a:bodyPr wrap="square" anchor="t">
            <a:spAutoFit/>
          </a:bodyPr>
          <a:lstStyle/>
          <a:p>
            <a:pPr algn="l">
              <a:lnSpc>
                <a:spcPct val="105000"/>
              </a:lnSpc>
              <a:spcBef>
                <a:spcPts val="0"/>
              </a:spcBef>
              <a:spcAft>
                <a:spcPts val="700"/>
              </a:spcAft>
            </a:pPr>
            <a:r>
              <a:rPr sz="1400" b="1" i="0">
                <a:solidFill>
                  <a:srgbClr val="0078D4"/>
                </a:solidFill>
                <a:latin typeface="Segoe UI"/>
              </a:rPr>
              <a:t>•  </a:t>
            </a:r>
            <a:r>
              <a:rPr sz="1400" b="0" i="0">
                <a:solidFill>
                  <a:srgbClr val="1B2733"/>
                </a:solidFill>
                <a:latin typeface="Segoe UI"/>
              </a:rPr>
              <a:t>Maps each Azure resource to its AWS equivalent</a:t>
            </a:r>
          </a:p>
          <a:p>
            <a:pPr algn="l">
              <a:lnSpc>
                <a:spcPct val="105000"/>
              </a:lnSpc>
              <a:spcBef>
                <a:spcPts val="0"/>
              </a:spcBef>
              <a:spcAft>
                <a:spcPts val="700"/>
              </a:spcAft>
            </a:pPr>
            <a:r>
              <a:rPr sz="1400" b="1" i="0">
                <a:solidFill>
                  <a:srgbClr val="0078D4"/>
                </a:solidFill>
                <a:latin typeface="Segoe UI"/>
              </a:rPr>
              <a:t>•  </a:t>
            </a:r>
            <a:r>
              <a:rPr sz="1400" b="0" i="0">
                <a:solidFill>
                  <a:srgbClr val="1B2733"/>
                </a:solidFill>
                <a:latin typeface="Segoe UI"/>
              </a:rPr>
              <a:t>Produces a structured migration plan (resources, params, outputs, conditions)</a:t>
            </a:r>
          </a:p>
          <a:p>
            <a:pPr algn="l">
              <a:lnSpc>
                <a:spcPct val="105000"/>
              </a:lnSpc>
              <a:spcBef>
                <a:spcPts val="0"/>
              </a:spcBef>
              <a:spcAft>
                <a:spcPts val="700"/>
              </a:spcAft>
            </a:pPr>
            <a:r>
              <a:rPr sz="1400" b="1" i="0">
                <a:solidFill>
                  <a:srgbClr val="0078D4"/>
                </a:solidFill>
                <a:latin typeface="Segoe UI"/>
              </a:rPr>
              <a:t>•  </a:t>
            </a:r>
            <a:r>
              <a:rPr sz="1400" b="0" i="0">
                <a:solidFill>
                  <a:srgbClr val="1B2733"/>
                </a:solidFill>
                <a:latin typeface="Segoe UI"/>
              </a:rPr>
              <a:t>One call per run — the only non-deterministic step</a:t>
            </a:r>
          </a:p>
        </p:txBody>
      </p:sp>
      <p:sp>
        <p:nvSpPr>
          <p:cNvPr id="9" name="Rounded Rectangle 8"/>
          <p:cNvSpPr/>
          <p:nvPr/>
        </p:nvSpPr>
        <p:spPr>
          <a:xfrm>
            <a:off x="6172200" y="2606040"/>
            <a:ext cx="5349240" cy="237744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2788920"/>
            <a:ext cx="4937760" cy="365760"/>
          </a:xfrm>
          <a:prstGeom prst="rect">
            <a:avLst/>
          </a:prstGeom>
          <a:noFill/>
        </p:spPr>
        <p:txBody>
          <a:bodyPr wrap="square" anchor="t">
            <a:spAutoFit/>
          </a:bodyPr>
          <a:lstStyle/>
          <a:p>
            <a:pPr algn="l">
              <a:lnSpc>
                <a:spcPct val="100000"/>
              </a:lnSpc>
              <a:spcBef>
                <a:spcPts val="0"/>
              </a:spcBef>
              <a:spcAft>
                <a:spcPts val="400"/>
              </a:spcAft>
            </a:pPr>
            <a:r>
              <a:rPr sz="1600" b="1" i="0">
                <a:solidFill>
                  <a:srgbClr val="0078D4"/>
                </a:solidFill>
                <a:latin typeface="Segoe UI"/>
              </a:rPr>
              <a:t>Deterministic code (no LLM)</a:t>
            </a:r>
          </a:p>
        </p:txBody>
      </p:sp>
      <p:sp>
        <p:nvSpPr>
          <p:cNvPr id="11" name="TextBox 10"/>
          <p:cNvSpPr txBox="1"/>
          <p:nvPr/>
        </p:nvSpPr>
        <p:spPr>
          <a:xfrm>
            <a:off x="6400800" y="3291840"/>
            <a:ext cx="4937760" cy="1645920"/>
          </a:xfrm>
          <a:prstGeom prst="rect">
            <a:avLst/>
          </a:prstGeom>
          <a:noFill/>
        </p:spPr>
        <p:txBody>
          <a:bodyPr wrap="square" anchor="t">
            <a:spAutoFit/>
          </a:bodyPr>
          <a:lstStyle/>
          <a:p>
            <a:pPr algn="l">
              <a:lnSpc>
                <a:spcPct val="105000"/>
              </a:lnSpc>
              <a:spcBef>
                <a:spcPts val="0"/>
              </a:spcBef>
              <a:spcAft>
                <a:spcPts val="700"/>
              </a:spcAft>
            </a:pPr>
            <a:r>
              <a:rPr sz="1400" b="1" i="0">
                <a:solidFill>
                  <a:srgbClr val="0078D4"/>
                </a:solidFill>
                <a:latin typeface="Segoe UI"/>
              </a:rPr>
              <a:t>•  </a:t>
            </a:r>
            <a:r>
              <a:rPr sz="1400" b="0" i="0">
                <a:solidFill>
                  <a:srgbClr val="1B2733"/>
                </a:solidFill>
                <a:latin typeface="Segoe UI"/>
              </a:rPr>
              <a:t>Compile Bicep → ARM JSON</a:t>
            </a:r>
          </a:p>
          <a:p>
            <a:pPr algn="l">
              <a:lnSpc>
                <a:spcPct val="105000"/>
              </a:lnSpc>
              <a:spcBef>
                <a:spcPts val="0"/>
              </a:spcBef>
              <a:spcAft>
                <a:spcPts val="700"/>
              </a:spcAft>
            </a:pPr>
            <a:r>
              <a:rPr sz="1400" b="1" i="0">
                <a:solidFill>
                  <a:srgbClr val="0078D4"/>
                </a:solidFill>
                <a:latin typeface="Segoe UI"/>
              </a:rPr>
              <a:t>•  </a:t>
            </a:r>
            <a:r>
              <a:rPr sz="1400" b="0" i="0">
                <a:solidFill>
                  <a:srgbClr val="1B2733"/>
                </a:solidFill>
                <a:latin typeface="Segoe UI"/>
              </a:rPr>
              <a:t>Build a cloud-neutral representation</a:t>
            </a:r>
          </a:p>
          <a:p>
            <a:pPr algn="l">
              <a:lnSpc>
                <a:spcPct val="105000"/>
              </a:lnSpc>
              <a:spcBef>
                <a:spcPts val="0"/>
              </a:spcBef>
              <a:spcAft>
                <a:spcPts val="700"/>
              </a:spcAft>
            </a:pPr>
            <a:r>
              <a:rPr sz="1400" b="1" i="0">
                <a:solidFill>
                  <a:srgbClr val="0078D4"/>
                </a:solidFill>
                <a:latin typeface="Segoe UI"/>
              </a:rPr>
              <a:t>•  </a:t>
            </a:r>
            <a:r>
              <a:rPr sz="1400" b="0" i="0">
                <a:solidFill>
                  <a:srgbClr val="1B2733"/>
                </a:solidFill>
                <a:latin typeface="Segoe UI"/>
              </a:rPr>
              <a:t>Render CloudFormation YAML, lint, deploy, verify</a:t>
            </a:r>
          </a:p>
        </p:txBody>
      </p:sp>
      <p:sp>
        <p:nvSpPr>
          <p:cNvPr id="12" name="TextBox 11"/>
          <p:cNvSpPr txBox="1"/>
          <p:nvPr/>
        </p:nvSpPr>
        <p:spPr>
          <a:xfrm>
            <a:off x="640080" y="5257800"/>
            <a:ext cx="10881360" cy="640080"/>
          </a:xfrm>
          <a:prstGeom prst="rect">
            <a:avLst/>
          </a:prstGeom>
          <a:noFill/>
        </p:spPr>
        <p:txBody>
          <a:bodyPr wrap="square" anchor="t">
            <a:spAutoFit/>
          </a:bodyPr>
          <a:lstStyle/>
          <a:p>
            <a:pPr algn="l">
              <a:lnSpc>
                <a:spcPct val="110000"/>
              </a:lnSpc>
              <a:spcBef>
                <a:spcPts val="0"/>
              </a:spcBef>
              <a:spcAft>
                <a:spcPts val="400"/>
              </a:spcAft>
            </a:pPr>
            <a:r>
              <a:rPr sz="1500" b="1" i="0">
                <a:solidFill>
                  <a:srgbClr val="1B2733"/>
                </a:solidFill>
                <a:latin typeface="Segoe UI"/>
              </a:rPr>
              <a:t>Result: </a:t>
            </a:r>
            <a:r>
              <a:rPr sz="1500" b="0" i="0">
                <a:solidFill>
                  <a:srgbClr val="5B6B7B"/>
                </a:solidFill>
                <a:latin typeface="Segoe UI"/>
              </a:rPr>
              <a:t>an auditable, replayable pipeline where no component makes surprise network calls or mutates AWS state outside the deploy step.</a:t>
            </a:r>
          </a:p>
        </p:txBody>
      </p:sp>
      <p:sp>
        <p:nvSpPr>
          <p:cNvPr id="13" name="Rectangle 12"/>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15" name="TextBox 14"/>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6 · Design Principle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CONCEPTUAL ARCHITECTURE</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A layered view of the system</a:t>
            </a:r>
          </a:p>
        </p:txBody>
      </p:sp>
      <p:sp>
        <p:nvSpPr>
          <p:cNvPr id="5" name="TextBox 4"/>
          <p:cNvSpPr txBox="1"/>
          <p:nvPr/>
        </p:nvSpPr>
        <p:spPr>
          <a:xfrm>
            <a:off x="640080" y="1572768"/>
            <a:ext cx="10881360" cy="365760"/>
          </a:xfrm>
          <a:prstGeom prst="rect">
            <a:avLst/>
          </a:prstGeom>
          <a:noFill/>
        </p:spPr>
        <p:txBody>
          <a:bodyPr wrap="square" anchor="t">
            <a:spAutoFit/>
          </a:bodyPr>
          <a:lstStyle/>
          <a:p>
            <a:pPr algn="l">
              <a:lnSpc>
                <a:spcPct val="110000"/>
              </a:lnSpc>
              <a:spcBef>
                <a:spcPts val="0"/>
              </a:spcBef>
              <a:spcAft>
                <a:spcPts val="400"/>
              </a:spcAft>
            </a:pPr>
            <a:r>
              <a:rPr sz="1400" b="0" i="0">
                <a:solidFill>
                  <a:srgbClr val="5B6B7B"/>
                </a:solidFill>
                <a:latin typeface="Segoe UI"/>
              </a:rPr>
              <a:t>The migration flows through six stages — reasoning is isolated to a single stage, everything else is deterministic and governed.</a:t>
            </a:r>
          </a:p>
        </p:txBody>
      </p:sp>
      <p:sp>
        <p:nvSpPr>
          <p:cNvPr id="6" name="Chevron 5"/>
          <p:cNvSpPr/>
          <p:nvPr/>
        </p:nvSpPr>
        <p:spPr>
          <a:xfrm>
            <a:off x="621792" y="2194560"/>
            <a:ext cx="2103120" cy="868680"/>
          </a:xfrm>
          <a:prstGeom prst="chevron">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FFFFFF"/>
                </a:solidFill>
                <a:latin typeface="Segoe UI"/>
              </a:rPr>
              <a:t>Source</a:t>
            </a:r>
          </a:p>
        </p:txBody>
      </p:sp>
      <p:sp>
        <p:nvSpPr>
          <p:cNvPr id="7" name="TextBox 6"/>
          <p:cNvSpPr txBox="1"/>
          <p:nvPr/>
        </p:nvSpPr>
        <p:spPr>
          <a:xfrm>
            <a:off x="640080" y="3227832"/>
            <a:ext cx="1719072" cy="640080"/>
          </a:xfrm>
          <a:prstGeom prst="rect">
            <a:avLst/>
          </a:prstGeom>
          <a:noFill/>
        </p:spPr>
        <p:txBody>
          <a:bodyPr wrap="square" anchor="t">
            <a:spAutoFit/>
          </a:bodyPr>
          <a:lstStyle/>
          <a:p>
            <a:pPr algn="ctr">
              <a:lnSpc>
                <a:spcPct val="100000"/>
              </a:lnSpc>
              <a:spcBef>
                <a:spcPts val="0"/>
              </a:spcBef>
              <a:spcAft>
                <a:spcPts val="400"/>
              </a:spcAft>
            </a:pPr>
            <a:r>
              <a:rPr sz="1100" b="0" i="0">
                <a:solidFill>
                  <a:srgbClr val="5B6B7B"/>
                </a:solidFill>
                <a:latin typeface="Segoe UI"/>
              </a:rPr>
              <a:t>Azure Bicep / live resource group</a:t>
            </a:r>
          </a:p>
        </p:txBody>
      </p:sp>
      <p:sp>
        <p:nvSpPr>
          <p:cNvPr id="8" name="Chevron 7"/>
          <p:cNvSpPr/>
          <p:nvPr/>
        </p:nvSpPr>
        <p:spPr>
          <a:xfrm>
            <a:off x="2359152" y="2194560"/>
            <a:ext cx="2103120" cy="868680"/>
          </a:xfrm>
          <a:prstGeom prst="chevron">
            <a:avLst/>
          </a:prstGeom>
          <a:solidFill>
            <a:srgbClr val="2B7F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FFFFFF"/>
                </a:solidFill>
                <a:latin typeface="Segoe UI"/>
              </a:rPr>
              <a:t>Ingest &amp; Normalize</a:t>
            </a:r>
          </a:p>
        </p:txBody>
      </p:sp>
      <p:sp>
        <p:nvSpPr>
          <p:cNvPr id="9" name="TextBox 8"/>
          <p:cNvSpPr txBox="1"/>
          <p:nvPr/>
        </p:nvSpPr>
        <p:spPr>
          <a:xfrm>
            <a:off x="2377440" y="3227832"/>
            <a:ext cx="1719072" cy="640080"/>
          </a:xfrm>
          <a:prstGeom prst="rect">
            <a:avLst/>
          </a:prstGeom>
          <a:noFill/>
        </p:spPr>
        <p:txBody>
          <a:bodyPr wrap="square" anchor="t">
            <a:spAutoFit/>
          </a:bodyPr>
          <a:lstStyle/>
          <a:p>
            <a:pPr algn="ctr">
              <a:lnSpc>
                <a:spcPct val="100000"/>
              </a:lnSpc>
              <a:spcBef>
                <a:spcPts val="0"/>
              </a:spcBef>
              <a:spcAft>
                <a:spcPts val="400"/>
              </a:spcAft>
            </a:pPr>
            <a:r>
              <a:rPr sz="1100" b="0" i="0">
                <a:solidFill>
                  <a:srgbClr val="5B6B7B"/>
                </a:solidFill>
                <a:latin typeface="Segoe UI"/>
              </a:rPr>
              <a:t>Compile to ARM, build neutral model</a:t>
            </a:r>
          </a:p>
        </p:txBody>
      </p:sp>
      <p:sp>
        <p:nvSpPr>
          <p:cNvPr id="10" name="Chevron 9"/>
          <p:cNvSpPr/>
          <p:nvPr/>
        </p:nvSpPr>
        <p:spPr>
          <a:xfrm>
            <a:off x="4096512" y="2194560"/>
            <a:ext cx="2103120" cy="868680"/>
          </a:xfrm>
          <a:prstGeom prst="chevron">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FFFFFF"/>
                </a:solidFill>
                <a:latin typeface="Segoe UI"/>
              </a:rPr>
              <a:t>Reason</a:t>
            </a:r>
          </a:p>
        </p:txBody>
      </p:sp>
      <p:sp>
        <p:nvSpPr>
          <p:cNvPr id="11" name="TextBox 10"/>
          <p:cNvSpPr txBox="1"/>
          <p:nvPr/>
        </p:nvSpPr>
        <p:spPr>
          <a:xfrm>
            <a:off x="4114800" y="3227832"/>
            <a:ext cx="1719072" cy="640080"/>
          </a:xfrm>
          <a:prstGeom prst="rect">
            <a:avLst/>
          </a:prstGeom>
          <a:noFill/>
        </p:spPr>
        <p:txBody>
          <a:bodyPr wrap="square" anchor="t">
            <a:spAutoFit/>
          </a:bodyPr>
          <a:lstStyle/>
          <a:p>
            <a:pPr algn="ctr">
              <a:lnSpc>
                <a:spcPct val="100000"/>
              </a:lnSpc>
              <a:spcBef>
                <a:spcPts val="0"/>
              </a:spcBef>
              <a:spcAft>
                <a:spcPts val="400"/>
              </a:spcAft>
            </a:pPr>
            <a:r>
              <a:rPr sz="1100" b="0" i="0">
                <a:solidFill>
                  <a:srgbClr val="5B6B7B"/>
                </a:solidFill>
                <a:latin typeface="Segoe UI"/>
              </a:rPr>
              <a:t>LLM plan grounded by the RAG KB</a:t>
            </a:r>
          </a:p>
        </p:txBody>
      </p:sp>
      <p:sp>
        <p:nvSpPr>
          <p:cNvPr id="12" name="Chevron 11"/>
          <p:cNvSpPr/>
          <p:nvPr/>
        </p:nvSpPr>
        <p:spPr>
          <a:xfrm>
            <a:off x="5833872" y="2194560"/>
            <a:ext cx="2103120" cy="868680"/>
          </a:xfrm>
          <a:prstGeom prst="chevron">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FFFFFF"/>
                </a:solidFill>
                <a:latin typeface="Segoe UI"/>
              </a:rPr>
              <a:t>Govern</a:t>
            </a:r>
          </a:p>
        </p:txBody>
      </p:sp>
      <p:sp>
        <p:nvSpPr>
          <p:cNvPr id="13" name="TextBox 12"/>
          <p:cNvSpPr txBox="1"/>
          <p:nvPr/>
        </p:nvSpPr>
        <p:spPr>
          <a:xfrm>
            <a:off x="5852160" y="3227832"/>
            <a:ext cx="1719072" cy="640080"/>
          </a:xfrm>
          <a:prstGeom prst="rect">
            <a:avLst/>
          </a:prstGeom>
          <a:noFill/>
        </p:spPr>
        <p:txBody>
          <a:bodyPr wrap="square" anchor="t">
            <a:spAutoFit/>
          </a:bodyPr>
          <a:lstStyle/>
          <a:p>
            <a:pPr algn="ctr">
              <a:lnSpc>
                <a:spcPct val="100000"/>
              </a:lnSpc>
              <a:spcBef>
                <a:spcPts val="0"/>
              </a:spcBef>
              <a:spcAft>
                <a:spcPts val="400"/>
              </a:spcAft>
            </a:pPr>
            <a:r>
              <a:rPr sz="1100" b="0" i="0">
                <a:solidFill>
                  <a:srgbClr val="5B6B7B"/>
                </a:solidFill>
                <a:latin typeface="Segoe UI"/>
              </a:rPr>
              <a:t>Automatic checkpoints + stack-conflict gate</a:t>
            </a:r>
          </a:p>
        </p:txBody>
      </p:sp>
      <p:sp>
        <p:nvSpPr>
          <p:cNvPr id="14" name="Chevron 13"/>
          <p:cNvSpPr/>
          <p:nvPr/>
        </p:nvSpPr>
        <p:spPr>
          <a:xfrm>
            <a:off x="7571232" y="2194560"/>
            <a:ext cx="2103120" cy="868680"/>
          </a:xfrm>
          <a:prstGeom prst="chevron">
            <a:avLst/>
          </a:prstGeom>
          <a:solidFill>
            <a:srgbClr val="3E7C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FFFFFF"/>
                </a:solidFill>
                <a:latin typeface="Segoe UI"/>
              </a:rPr>
              <a:t>Execute</a:t>
            </a:r>
          </a:p>
        </p:txBody>
      </p:sp>
      <p:sp>
        <p:nvSpPr>
          <p:cNvPr id="15" name="TextBox 14"/>
          <p:cNvSpPr txBox="1"/>
          <p:nvPr/>
        </p:nvSpPr>
        <p:spPr>
          <a:xfrm>
            <a:off x="7589520" y="3227832"/>
            <a:ext cx="1719072" cy="640080"/>
          </a:xfrm>
          <a:prstGeom prst="rect">
            <a:avLst/>
          </a:prstGeom>
          <a:noFill/>
        </p:spPr>
        <p:txBody>
          <a:bodyPr wrap="square" anchor="t">
            <a:spAutoFit/>
          </a:bodyPr>
          <a:lstStyle/>
          <a:p>
            <a:pPr algn="ctr">
              <a:lnSpc>
                <a:spcPct val="100000"/>
              </a:lnSpc>
              <a:spcBef>
                <a:spcPts val="0"/>
              </a:spcBef>
              <a:spcAft>
                <a:spcPts val="400"/>
              </a:spcAft>
            </a:pPr>
            <a:r>
              <a:rPr sz="1100" b="0" i="0">
                <a:solidFill>
                  <a:srgbClr val="5B6B7B"/>
                </a:solidFill>
                <a:latin typeface="Segoe UI"/>
              </a:rPr>
              <a:t>Render, deploy and verify</a:t>
            </a:r>
          </a:p>
        </p:txBody>
      </p:sp>
      <p:sp>
        <p:nvSpPr>
          <p:cNvPr id="16" name="Chevron 15"/>
          <p:cNvSpPr/>
          <p:nvPr/>
        </p:nvSpPr>
        <p:spPr>
          <a:xfrm>
            <a:off x="9308592" y="2194560"/>
            <a:ext cx="2103120" cy="868680"/>
          </a:xfrm>
          <a:prstGeom prst="chevron">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FFFFFF"/>
                </a:solidFill>
                <a:latin typeface="Segoe UI"/>
              </a:rPr>
              <a:t>Target</a:t>
            </a:r>
          </a:p>
        </p:txBody>
      </p:sp>
      <p:sp>
        <p:nvSpPr>
          <p:cNvPr id="17" name="TextBox 16"/>
          <p:cNvSpPr txBox="1"/>
          <p:nvPr/>
        </p:nvSpPr>
        <p:spPr>
          <a:xfrm>
            <a:off x="9326880" y="3227832"/>
            <a:ext cx="1719072" cy="640080"/>
          </a:xfrm>
          <a:prstGeom prst="rect">
            <a:avLst/>
          </a:prstGeom>
          <a:noFill/>
        </p:spPr>
        <p:txBody>
          <a:bodyPr wrap="square" anchor="t">
            <a:spAutoFit/>
          </a:bodyPr>
          <a:lstStyle/>
          <a:p>
            <a:pPr algn="ctr">
              <a:lnSpc>
                <a:spcPct val="100000"/>
              </a:lnSpc>
              <a:spcBef>
                <a:spcPts val="0"/>
              </a:spcBef>
              <a:spcAft>
                <a:spcPts val="400"/>
              </a:spcAft>
            </a:pPr>
            <a:r>
              <a:rPr sz="1100" b="0" i="0">
                <a:solidFill>
                  <a:srgbClr val="5B6B7B"/>
                </a:solidFill>
                <a:latin typeface="Segoe UI"/>
              </a:rPr>
              <a:t>AWS CloudFormation stack</a:t>
            </a:r>
          </a:p>
        </p:txBody>
      </p:sp>
      <p:sp>
        <p:nvSpPr>
          <p:cNvPr id="18" name="Rounded Rectangle 17"/>
          <p:cNvSpPr/>
          <p:nvPr/>
        </p:nvSpPr>
        <p:spPr>
          <a:xfrm>
            <a:off x="640080" y="4114800"/>
            <a:ext cx="10899648" cy="1627632"/>
          </a:xfrm>
          <a:prstGeom prst="roundRect">
            <a:avLst/>
          </a:prstGeom>
          <a:solidFill>
            <a:srgbClr val="F3F0FF"/>
          </a:solidFill>
          <a:ln w="15875">
            <a:solidFill>
              <a:srgbClr val="5B5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261104"/>
            <a:ext cx="10424160" cy="365760"/>
          </a:xfrm>
          <a:prstGeom prst="rect">
            <a:avLst/>
          </a:prstGeom>
          <a:noFill/>
        </p:spPr>
        <p:txBody>
          <a:bodyPr wrap="square" anchor="t">
            <a:spAutoFit/>
          </a:bodyPr>
          <a:lstStyle/>
          <a:p>
            <a:pPr algn="l">
              <a:lnSpc>
                <a:spcPct val="100000"/>
              </a:lnSpc>
              <a:spcBef>
                <a:spcPts val="0"/>
              </a:spcBef>
              <a:spcAft>
                <a:spcPts val="400"/>
              </a:spcAft>
            </a:pPr>
            <a:r>
              <a:rPr sz="1500" b="1" i="0">
                <a:solidFill>
                  <a:srgbClr val="5B5BD6"/>
                </a:solidFill>
                <a:latin typeface="Segoe UI"/>
              </a:rPr>
              <a:t>Cross-cutting foundations · applied across every stage</a:t>
            </a:r>
          </a:p>
        </p:txBody>
      </p:sp>
      <p:sp>
        <p:nvSpPr>
          <p:cNvPr id="20" name="Rounded Rectangle 19"/>
          <p:cNvSpPr/>
          <p:nvPr/>
        </p:nvSpPr>
        <p:spPr>
          <a:xfrm>
            <a:off x="868680" y="4736592"/>
            <a:ext cx="3401568" cy="841248"/>
          </a:xfrm>
          <a:prstGeom prst="roundRect">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3271" y="4846320"/>
            <a:ext cx="3108960" cy="320040"/>
          </a:xfrm>
          <a:prstGeom prst="rect">
            <a:avLst/>
          </a:prstGeom>
          <a:noFill/>
        </p:spPr>
        <p:txBody>
          <a:bodyPr wrap="square" anchor="t">
            <a:spAutoFit/>
          </a:bodyPr>
          <a:lstStyle/>
          <a:p>
            <a:pPr algn="l">
              <a:lnSpc>
                <a:spcPct val="100000"/>
              </a:lnSpc>
              <a:spcBef>
                <a:spcPts val="0"/>
              </a:spcBef>
              <a:spcAft>
                <a:spcPts val="400"/>
              </a:spcAft>
            </a:pPr>
            <a:r>
              <a:rPr sz="1350" b="1" i="0">
                <a:solidFill>
                  <a:srgbClr val="1B2733"/>
                </a:solidFill>
                <a:latin typeface="Segoe UI"/>
              </a:rPr>
              <a:t>Secret protection</a:t>
            </a:r>
          </a:p>
        </p:txBody>
      </p:sp>
      <p:sp>
        <p:nvSpPr>
          <p:cNvPr id="22" name="TextBox 21"/>
          <p:cNvSpPr txBox="1"/>
          <p:nvPr/>
        </p:nvSpPr>
        <p:spPr>
          <a:xfrm>
            <a:off x="1033271" y="5175504"/>
            <a:ext cx="3072384" cy="365760"/>
          </a:xfrm>
          <a:prstGeom prst="rect">
            <a:avLst/>
          </a:prstGeom>
          <a:noFill/>
        </p:spPr>
        <p:txBody>
          <a:bodyPr wrap="square" anchor="t">
            <a:spAutoFit/>
          </a:bodyPr>
          <a:lstStyle/>
          <a:p>
            <a:pPr algn="l">
              <a:lnSpc>
                <a:spcPct val="100000"/>
              </a:lnSpc>
              <a:spcBef>
                <a:spcPts val="0"/>
              </a:spcBef>
              <a:spcAft>
                <a:spcPts val="400"/>
              </a:spcAft>
            </a:pPr>
            <a:r>
              <a:rPr sz="1150" b="0" i="0">
                <a:solidFill>
                  <a:srgbClr val="5B6B7B"/>
                </a:solidFill>
                <a:latin typeface="Segoe UI"/>
              </a:rPr>
              <a:t>Masked wrappers and log redaction end-to-end.</a:t>
            </a:r>
          </a:p>
        </p:txBody>
      </p:sp>
      <p:sp>
        <p:nvSpPr>
          <p:cNvPr id="23" name="Rounded Rectangle 22"/>
          <p:cNvSpPr/>
          <p:nvPr/>
        </p:nvSpPr>
        <p:spPr>
          <a:xfrm>
            <a:off x="4434840" y="4736592"/>
            <a:ext cx="3401568" cy="841248"/>
          </a:xfrm>
          <a:prstGeom prst="roundRect">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1" y="4846320"/>
            <a:ext cx="3108960" cy="320040"/>
          </a:xfrm>
          <a:prstGeom prst="rect">
            <a:avLst/>
          </a:prstGeom>
          <a:noFill/>
        </p:spPr>
        <p:txBody>
          <a:bodyPr wrap="square" anchor="t">
            <a:spAutoFit/>
          </a:bodyPr>
          <a:lstStyle/>
          <a:p>
            <a:pPr algn="l">
              <a:lnSpc>
                <a:spcPct val="100000"/>
              </a:lnSpc>
              <a:spcBef>
                <a:spcPts val="0"/>
              </a:spcBef>
              <a:spcAft>
                <a:spcPts val="400"/>
              </a:spcAft>
            </a:pPr>
            <a:r>
              <a:rPr sz="1350" b="1" i="0">
                <a:solidFill>
                  <a:srgbClr val="1B2733"/>
                </a:solidFill>
                <a:latin typeface="Segoe UI"/>
              </a:rPr>
              <a:t>Observability</a:t>
            </a:r>
          </a:p>
        </p:txBody>
      </p:sp>
      <p:sp>
        <p:nvSpPr>
          <p:cNvPr id="25" name="TextBox 24"/>
          <p:cNvSpPr txBox="1"/>
          <p:nvPr/>
        </p:nvSpPr>
        <p:spPr>
          <a:xfrm>
            <a:off x="4599431" y="5175504"/>
            <a:ext cx="3072384" cy="365760"/>
          </a:xfrm>
          <a:prstGeom prst="rect">
            <a:avLst/>
          </a:prstGeom>
          <a:noFill/>
        </p:spPr>
        <p:txBody>
          <a:bodyPr wrap="square" anchor="t">
            <a:spAutoFit/>
          </a:bodyPr>
          <a:lstStyle/>
          <a:p>
            <a:pPr algn="l">
              <a:lnSpc>
                <a:spcPct val="100000"/>
              </a:lnSpc>
              <a:spcBef>
                <a:spcPts val="0"/>
              </a:spcBef>
              <a:spcAft>
                <a:spcPts val="400"/>
              </a:spcAft>
            </a:pPr>
            <a:r>
              <a:rPr sz="1150" b="0" i="0">
                <a:solidFill>
                  <a:srgbClr val="5B6B7B"/>
                </a:solidFill>
                <a:latin typeface="Segoe UI"/>
              </a:rPr>
              <a:t>Per-run artifacts and opt-in tracing.</a:t>
            </a:r>
          </a:p>
        </p:txBody>
      </p:sp>
      <p:sp>
        <p:nvSpPr>
          <p:cNvPr id="26" name="Rounded Rectangle 25"/>
          <p:cNvSpPr/>
          <p:nvPr/>
        </p:nvSpPr>
        <p:spPr>
          <a:xfrm>
            <a:off x="8001000" y="4736592"/>
            <a:ext cx="3401568" cy="841248"/>
          </a:xfrm>
          <a:prstGeom prst="roundRect">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65592" y="4846320"/>
            <a:ext cx="3108960" cy="320040"/>
          </a:xfrm>
          <a:prstGeom prst="rect">
            <a:avLst/>
          </a:prstGeom>
          <a:noFill/>
        </p:spPr>
        <p:txBody>
          <a:bodyPr wrap="square" anchor="t">
            <a:spAutoFit/>
          </a:bodyPr>
          <a:lstStyle/>
          <a:p>
            <a:pPr algn="l">
              <a:lnSpc>
                <a:spcPct val="100000"/>
              </a:lnSpc>
              <a:spcBef>
                <a:spcPts val="0"/>
              </a:spcBef>
              <a:spcAft>
                <a:spcPts val="400"/>
              </a:spcAft>
            </a:pPr>
            <a:r>
              <a:rPr sz="1350" b="1" i="0">
                <a:solidFill>
                  <a:srgbClr val="1B2733"/>
                </a:solidFill>
                <a:latin typeface="Segoe UI"/>
              </a:rPr>
              <a:t>Evaluation &amp; calibration</a:t>
            </a:r>
          </a:p>
        </p:txBody>
      </p:sp>
      <p:sp>
        <p:nvSpPr>
          <p:cNvPr id="28" name="TextBox 27"/>
          <p:cNvSpPr txBox="1"/>
          <p:nvPr/>
        </p:nvSpPr>
        <p:spPr>
          <a:xfrm>
            <a:off x="8165592" y="5175504"/>
            <a:ext cx="3072384" cy="365760"/>
          </a:xfrm>
          <a:prstGeom prst="rect">
            <a:avLst/>
          </a:prstGeom>
          <a:noFill/>
        </p:spPr>
        <p:txBody>
          <a:bodyPr wrap="square" anchor="t">
            <a:spAutoFit/>
          </a:bodyPr>
          <a:lstStyle/>
          <a:p>
            <a:pPr algn="l">
              <a:lnSpc>
                <a:spcPct val="100000"/>
              </a:lnSpc>
              <a:spcBef>
                <a:spcPts val="0"/>
              </a:spcBef>
              <a:spcAft>
                <a:spcPts val="400"/>
              </a:spcAft>
            </a:pPr>
            <a:r>
              <a:rPr sz="1150" b="0" i="0">
                <a:solidFill>
                  <a:srgbClr val="5B6B7B"/>
                </a:solidFill>
                <a:latin typeface="Segoe UI"/>
              </a:rPr>
              <a:t>Benchmark scores and reliability metrics.</a:t>
            </a:r>
          </a:p>
        </p:txBody>
      </p:sp>
      <p:sp>
        <p:nvSpPr>
          <p:cNvPr id="29" name="Rectangle 28"/>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31" name="TextBox 30"/>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7 · Conceptual Architecture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ARCHITECTURE</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The 7-agent LangGraph pipeline</a:t>
            </a:r>
          </a:p>
        </p:txBody>
      </p:sp>
      <p:sp>
        <p:nvSpPr>
          <p:cNvPr id="5" name="Rounded Rectangle 4"/>
          <p:cNvSpPr/>
          <p:nvPr/>
        </p:nvSpPr>
        <p:spPr>
          <a:xfrm>
            <a:off x="640080" y="1737360"/>
            <a:ext cx="2286000" cy="868680"/>
          </a:xfrm>
          <a:prstGeom prst="roundRect">
            <a:avLst/>
          </a:prstGeom>
          <a:solidFill>
            <a:srgbClr val="EEF3F8"/>
          </a:solidFill>
          <a:ln w="1587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1" y="184708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0078D4"/>
                </a:solidFill>
                <a:latin typeface="Segoe UI"/>
              </a:rPr>
              <a:t>Agent 0</a:t>
            </a:r>
          </a:p>
        </p:txBody>
      </p:sp>
      <p:sp>
        <p:nvSpPr>
          <p:cNvPr id="7" name="TextBox 6"/>
          <p:cNvSpPr txBox="1"/>
          <p:nvPr/>
        </p:nvSpPr>
        <p:spPr>
          <a:xfrm>
            <a:off x="713231" y="213969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Export resource
group (optional)</a:t>
            </a:r>
          </a:p>
        </p:txBody>
      </p:sp>
      <p:sp>
        <p:nvSpPr>
          <p:cNvPr id="8" name="Right Arrow 7"/>
          <p:cNvSpPr/>
          <p:nvPr/>
        </p:nvSpPr>
        <p:spPr>
          <a:xfrm>
            <a:off x="2985516" y="2043684"/>
            <a:ext cx="457200" cy="256032"/>
          </a:xfrm>
          <a:prstGeom prst="rightArrow">
            <a:avLst/>
          </a:prstGeom>
          <a:solidFill>
            <a:srgbClr val="90A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02152" y="1737360"/>
            <a:ext cx="2286000" cy="868680"/>
          </a:xfrm>
          <a:prstGeom prst="roundRect">
            <a:avLst/>
          </a:prstGeom>
          <a:solidFill>
            <a:srgbClr val="EEF3F8"/>
          </a:solidFill>
          <a:ln w="1587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75304" y="184708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0078D4"/>
                </a:solidFill>
                <a:latin typeface="Segoe UI"/>
              </a:rPr>
              <a:t>Agent 1</a:t>
            </a:r>
          </a:p>
        </p:txBody>
      </p:sp>
      <p:sp>
        <p:nvSpPr>
          <p:cNvPr id="11" name="TextBox 10"/>
          <p:cNvSpPr txBox="1"/>
          <p:nvPr/>
        </p:nvSpPr>
        <p:spPr>
          <a:xfrm>
            <a:off x="3575304" y="213969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Validate &amp; check
KB coverage</a:t>
            </a:r>
          </a:p>
        </p:txBody>
      </p:sp>
      <p:sp>
        <p:nvSpPr>
          <p:cNvPr id="12" name="Right Arrow 11"/>
          <p:cNvSpPr/>
          <p:nvPr/>
        </p:nvSpPr>
        <p:spPr>
          <a:xfrm>
            <a:off x="5847588" y="2043684"/>
            <a:ext cx="457200" cy="256032"/>
          </a:xfrm>
          <a:prstGeom prst="rightArrow">
            <a:avLst/>
          </a:prstGeom>
          <a:solidFill>
            <a:srgbClr val="90A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4224" y="1737360"/>
            <a:ext cx="2286000" cy="868680"/>
          </a:xfrm>
          <a:prstGeom prst="roundRect">
            <a:avLst/>
          </a:prstGeom>
          <a:solidFill>
            <a:srgbClr val="EEF3F8"/>
          </a:solidFill>
          <a:ln w="1587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184708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0078D4"/>
                </a:solidFill>
                <a:latin typeface="Segoe UI"/>
              </a:rPr>
              <a:t>Agent 2</a:t>
            </a:r>
          </a:p>
        </p:txBody>
      </p:sp>
      <p:sp>
        <p:nvSpPr>
          <p:cNvPr id="15" name="TextBox 14"/>
          <p:cNvSpPr txBox="1"/>
          <p:nvPr/>
        </p:nvSpPr>
        <p:spPr>
          <a:xfrm>
            <a:off x="6437376" y="213969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Build cloud-
neutral model</a:t>
            </a:r>
          </a:p>
        </p:txBody>
      </p:sp>
      <p:sp>
        <p:nvSpPr>
          <p:cNvPr id="16" name="Right Arrow 15"/>
          <p:cNvSpPr/>
          <p:nvPr/>
        </p:nvSpPr>
        <p:spPr>
          <a:xfrm>
            <a:off x="8709660" y="2043684"/>
            <a:ext cx="457200" cy="256032"/>
          </a:xfrm>
          <a:prstGeom prst="rightArrow">
            <a:avLst/>
          </a:prstGeom>
          <a:solidFill>
            <a:srgbClr val="90A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226296" y="1737360"/>
            <a:ext cx="2286000" cy="868680"/>
          </a:xfrm>
          <a:prstGeom prst="roundRect">
            <a:avLst/>
          </a:prstGeom>
          <a:solidFill>
            <a:srgbClr val="FFF3E6"/>
          </a:solidFill>
          <a:ln w="15875">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184708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D2691E"/>
                </a:solidFill>
                <a:latin typeface="Segoe UI"/>
              </a:rPr>
              <a:t>Agent 3</a:t>
            </a:r>
          </a:p>
        </p:txBody>
      </p:sp>
      <p:sp>
        <p:nvSpPr>
          <p:cNvPr id="19" name="TextBox 18"/>
          <p:cNvSpPr txBox="1"/>
          <p:nvPr/>
        </p:nvSpPr>
        <p:spPr>
          <a:xfrm>
            <a:off x="9299448" y="213969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Map resources
(Bedrock LLM)</a:t>
            </a:r>
          </a:p>
        </p:txBody>
      </p:sp>
      <p:sp>
        <p:nvSpPr>
          <p:cNvPr id="20" name="Down Arrow 19"/>
          <p:cNvSpPr/>
          <p:nvPr/>
        </p:nvSpPr>
        <p:spPr>
          <a:xfrm>
            <a:off x="10232136" y="2660903"/>
            <a:ext cx="274320" cy="347472"/>
          </a:xfrm>
          <a:prstGeom prst="downArrow">
            <a:avLst/>
          </a:prstGeom>
          <a:solidFill>
            <a:srgbClr val="90A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226296" y="3063240"/>
            <a:ext cx="2286000" cy="868680"/>
          </a:xfrm>
          <a:prstGeom prst="roundRect">
            <a:avLst/>
          </a:prstGeom>
          <a:solidFill>
            <a:srgbClr val="EFECFB"/>
          </a:solidFill>
          <a:ln w="15875">
            <a:solidFill>
              <a:srgbClr val="5B5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99448" y="317296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5B5BD6"/>
                </a:solidFill>
                <a:latin typeface="Segoe UI"/>
              </a:rPr>
              <a:t>Plan check</a:t>
            </a:r>
          </a:p>
        </p:txBody>
      </p:sp>
      <p:sp>
        <p:nvSpPr>
          <p:cNvPr id="23" name="TextBox 22"/>
          <p:cNvSpPr txBox="1"/>
          <p:nvPr/>
        </p:nvSpPr>
        <p:spPr>
          <a:xfrm>
            <a:off x="9299448" y="346557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Auto-approved once
cfn-lint is clean</a:t>
            </a:r>
          </a:p>
        </p:txBody>
      </p:sp>
      <p:sp>
        <p:nvSpPr>
          <p:cNvPr id="24" name="Left Arrow 23"/>
          <p:cNvSpPr/>
          <p:nvPr/>
        </p:nvSpPr>
        <p:spPr>
          <a:xfrm>
            <a:off x="8709660" y="3369564"/>
            <a:ext cx="457200" cy="256032"/>
          </a:xfrm>
          <a:prstGeom prst="leftArrow">
            <a:avLst/>
          </a:prstGeom>
          <a:solidFill>
            <a:srgbClr val="90A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4224" y="3063240"/>
            <a:ext cx="2286000" cy="868680"/>
          </a:xfrm>
          <a:prstGeom prst="roundRect">
            <a:avLst/>
          </a:prstGeom>
          <a:solidFill>
            <a:srgbClr val="EEF3F8"/>
          </a:solidFill>
          <a:ln w="1587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7376" y="317296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0078D4"/>
                </a:solidFill>
                <a:latin typeface="Segoe UI"/>
              </a:rPr>
              <a:t>Agent 4</a:t>
            </a:r>
          </a:p>
        </p:txBody>
      </p:sp>
      <p:sp>
        <p:nvSpPr>
          <p:cNvPr id="27" name="TextBox 26"/>
          <p:cNvSpPr txBox="1"/>
          <p:nvPr/>
        </p:nvSpPr>
        <p:spPr>
          <a:xfrm>
            <a:off x="6437376" y="346557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Render
CloudFormation</a:t>
            </a:r>
          </a:p>
        </p:txBody>
      </p:sp>
      <p:sp>
        <p:nvSpPr>
          <p:cNvPr id="28" name="Left Arrow 27"/>
          <p:cNvSpPr/>
          <p:nvPr/>
        </p:nvSpPr>
        <p:spPr>
          <a:xfrm>
            <a:off x="5847588" y="3369564"/>
            <a:ext cx="457200" cy="256032"/>
          </a:xfrm>
          <a:prstGeom prst="leftArrow">
            <a:avLst/>
          </a:prstGeom>
          <a:solidFill>
            <a:srgbClr val="90A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502152" y="3063240"/>
            <a:ext cx="2286000" cy="868680"/>
          </a:xfrm>
          <a:prstGeom prst="roundRect">
            <a:avLst/>
          </a:prstGeom>
          <a:solidFill>
            <a:srgbClr val="EEF3F8"/>
          </a:solidFill>
          <a:ln w="1587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75304" y="317296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0078D4"/>
                </a:solidFill>
                <a:latin typeface="Segoe UI"/>
              </a:rPr>
              <a:t>Agent 5</a:t>
            </a:r>
          </a:p>
        </p:txBody>
      </p:sp>
      <p:sp>
        <p:nvSpPr>
          <p:cNvPr id="31" name="TextBox 30"/>
          <p:cNvSpPr txBox="1"/>
          <p:nvPr/>
        </p:nvSpPr>
        <p:spPr>
          <a:xfrm>
            <a:off x="3575304" y="346557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Validate with
cfn-lint</a:t>
            </a:r>
          </a:p>
        </p:txBody>
      </p:sp>
      <p:sp>
        <p:nvSpPr>
          <p:cNvPr id="32" name="Left Arrow 31"/>
          <p:cNvSpPr/>
          <p:nvPr/>
        </p:nvSpPr>
        <p:spPr>
          <a:xfrm>
            <a:off x="2985516" y="3369564"/>
            <a:ext cx="457200" cy="256032"/>
          </a:xfrm>
          <a:prstGeom prst="leftArrow">
            <a:avLst/>
          </a:prstGeom>
          <a:solidFill>
            <a:srgbClr val="90A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40080" y="3063240"/>
            <a:ext cx="2286000" cy="868680"/>
          </a:xfrm>
          <a:prstGeom prst="roundRect">
            <a:avLst/>
          </a:prstGeom>
          <a:solidFill>
            <a:srgbClr val="EFECFB"/>
          </a:solidFill>
          <a:ln w="15875">
            <a:solidFill>
              <a:srgbClr val="5B5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1" y="317296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5B5BD6"/>
                </a:solidFill>
                <a:latin typeface="Segoe UI"/>
              </a:rPr>
              <a:t>Guardrail scan</a:t>
            </a:r>
          </a:p>
        </p:txBody>
      </p:sp>
      <p:sp>
        <p:nvSpPr>
          <p:cNvPr id="35" name="TextBox 34"/>
          <p:cNvSpPr txBox="1"/>
          <p:nvPr/>
        </p:nvSpPr>
        <p:spPr>
          <a:xfrm>
            <a:off x="713231" y="346557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Auto security scan
(logs findings)</a:t>
            </a:r>
          </a:p>
        </p:txBody>
      </p:sp>
      <p:sp>
        <p:nvSpPr>
          <p:cNvPr id="36" name="Down Arrow 35"/>
          <p:cNvSpPr/>
          <p:nvPr/>
        </p:nvSpPr>
        <p:spPr>
          <a:xfrm>
            <a:off x="1645920" y="3986783"/>
            <a:ext cx="274320" cy="347472"/>
          </a:xfrm>
          <a:prstGeom prst="downArrow">
            <a:avLst/>
          </a:prstGeom>
          <a:solidFill>
            <a:srgbClr val="90A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40080" y="4389120"/>
            <a:ext cx="2286000" cy="868680"/>
          </a:xfrm>
          <a:prstGeom prst="roundRect">
            <a:avLst/>
          </a:prstGeom>
          <a:solidFill>
            <a:srgbClr val="FFF8E1"/>
          </a:solidFill>
          <a:ln w="15875">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3231" y="449884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B8860B"/>
                </a:solidFill>
                <a:latin typeface="Segoe UI"/>
              </a:rPr>
              <a:t>Stack gate</a:t>
            </a:r>
          </a:p>
        </p:txBody>
      </p:sp>
      <p:sp>
        <p:nvSpPr>
          <p:cNvPr id="39" name="TextBox 38"/>
          <p:cNvSpPr txBox="1"/>
          <p:nvPr/>
        </p:nvSpPr>
        <p:spPr>
          <a:xfrm>
            <a:off x="713231" y="479145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Human: delete and
recreate, or cancel</a:t>
            </a:r>
          </a:p>
        </p:txBody>
      </p:sp>
      <p:sp>
        <p:nvSpPr>
          <p:cNvPr id="40" name="Right Arrow 39"/>
          <p:cNvSpPr/>
          <p:nvPr/>
        </p:nvSpPr>
        <p:spPr>
          <a:xfrm>
            <a:off x="2985516" y="4695444"/>
            <a:ext cx="457200" cy="256032"/>
          </a:xfrm>
          <a:prstGeom prst="rightArrow">
            <a:avLst/>
          </a:prstGeom>
          <a:solidFill>
            <a:srgbClr val="90A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3502152" y="4389120"/>
            <a:ext cx="2286000" cy="868680"/>
          </a:xfrm>
          <a:prstGeom prst="roundRect">
            <a:avLst/>
          </a:prstGeom>
          <a:solidFill>
            <a:srgbClr val="EEF3F8"/>
          </a:solidFill>
          <a:ln w="1587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575304" y="449884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0078D4"/>
                </a:solidFill>
                <a:latin typeface="Segoe UI"/>
              </a:rPr>
              <a:t>Agent 6</a:t>
            </a:r>
          </a:p>
        </p:txBody>
      </p:sp>
      <p:sp>
        <p:nvSpPr>
          <p:cNvPr id="43" name="TextBox 42"/>
          <p:cNvSpPr txBox="1"/>
          <p:nvPr/>
        </p:nvSpPr>
        <p:spPr>
          <a:xfrm>
            <a:off x="3575304" y="479145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Deploy via
boto3</a:t>
            </a:r>
          </a:p>
        </p:txBody>
      </p:sp>
      <p:sp>
        <p:nvSpPr>
          <p:cNvPr id="44" name="Right Arrow 43"/>
          <p:cNvSpPr/>
          <p:nvPr/>
        </p:nvSpPr>
        <p:spPr>
          <a:xfrm>
            <a:off x="5847588" y="4695444"/>
            <a:ext cx="457200" cy="256032"/>
          </a:xfrm>
          <a:prstGeom prst="rightArrow">
            <a:avLst/>
          </a:prstGeom>
          <a:solidFill>
            <a:srgbClr val="90A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6364224" y="4389120"/>
            <a:ext cx="2286000" cy="868680"/>
          </a:xfrm>
          <a:prstGeom prst="roundRect">
            <a:avLst/>
          </a:prstGeom>
          <a:solidFill>
            <a:srgbClr val="EEF3F8"/>
          </a:solidFill>
          <a:ln w="1587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37376" y="449884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0078D4"/>
                </a:solidFill>
                <a:latin typeface="Segoe UI"/>
              </a:rPr>
              <a:t>Agent 6b</a:t>
            </a:r>
          </a:p>
        </p:txBody>
      </p:sp>
      <p:sp>
        <p:nvSpPr>
          <p:cNvPr id="47" name="TextBox 46"/>
          <p:cNvSpPr txBox="1"/>
          <p:nvPr/>
        </p:nvSpPr>
        <p:spPr>
          <a:xfrm>
            <a:off x="6437376" y="479145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Post-deploy
verify</a:t>
            </a:r>
          </a:p>
        </p:txBody>
      </p:sp>
      <p:sp>
        <p:nvSpPr>
          <p:cNvPr id="48" name="Right Arrow 47"/>
          <p:cNvSpPr/>
          <p:nvPr/>
        </p:nvSpPr>
        <p:spPr>
          <a:xfrm>
            <a:off x="8709660" y="4695444"/>
            <a:ext cx="457200" cy="256032"/>
          </a:xfrm>
          <a:prstGeom prst="rightArrow">
            <a:avLst/>
          </a:prstGeom>
          <a:solidFill>
            <a:srgbClr val="90A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226296" y="4389120"/>
            <a:ext cx="2286000" cy="868680"/>
          </a:xfrm>
          <a:prstGeom prst="roundRect">
            <a:avLst/>
          </a:prstGeom>
          <a:solidFill>
            <a:srgbClr val="E7F6EA"/>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99448" y="449884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2E7D32"/>
                </a:solidFill>
                <a:latin typeface="Segoe UI"/>
              </a:rPr>
              <a:t>Agent 7</a:t>
            </a:r>
          </a:p>
        </p:txBody>
      </p:sp>
      <p:sp>
        <p:nvSpPr>
          <p:cNvPr id="51" name="TextBox 50"/>
          <p:cNvSpPr txBox="1"/>
          <p:nvPr/>
        </p:nvSpPr>
        <p:spPr>
          <a:xfrm>
            <a:off x="9299448" y="479145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Report + history
+ calibration</a:t>
            </a:r>
          </a:p>
        </p:txBody>
      </p:sp>
      <p:sp>
        <p:nvSpPr>
          <p:cNvPr id="52" name="TextBox 51"/>
          <p:cNvSpPr txBox="1"/>
          <p:nvPr/>
        </p:nvSpPr>
        <p:spPr>
          <a:xfrm>
            <a:off x="640080" y="5330952"/>
            <a:ext cx="10881360" cy="237744"/>
          </a:xfrm>
          <a:prstGeom prst="rect">
            <a:avLst/>
          </a:prstGeom>
          <a:noFill/>
        </p:spPr>
        <p:txBody>
          <a:bodyPr wrap="square" anchor="t">
            <a:spAutoFit/>
          </a:bodyPr>
          <a:lstStyle/>
          <a:p>
            <a:pPr algn="l">
              <a:lnSpc>
                <a:spcPct val="100000"/>
              </a:lnSpc>
              <a:spcBef>
                <a:spcPts val="0"/>
              </a:spcBef>
              <a:spcAft>
                <a:spcPts val="400"/>
              </a:spcAft>
            </a:pPr>
            <a:r>
              <a:rPr sz="1150" b="1" i="0">
                <a:solidFill>
                  <a:srgbClr val="B8860B"/>
                </a:solidFill>
                <a:latin typeface="Segoe UI"/>
              </a:rPr>
              <a:t>↺ Self-correction: </a:t>
            </a:r>
            <a:r>
              <a:rPr sz="1150" b="0" i="0">
                <a:solidFill>
                  <a:srgbClr val="5B6B7B"/>
                </a:solidFill>
                <a:latin typeface="Segoe UI"/>
              </a:rPr>
              <a:t>a non-clean cfn-lint result loops back from Agent 5 to Agent 3, up to the retry limit.</a:t>
            </a:r>
          </a:p>
        </p:txBody>
      </p:sp>
      <p:sp>
        <p:nvSpPr>
          <p:cNvPr id="53" name="Rounded Rectangle 52"/>
          <p:cNvSpPr/>
          <p:nvPr/>
        </p:nvSpPr>
        <p:spPr>
          <a:xfrm>
            <a:off x="640080" y="5596128"/>
            <a:ext cx="219456" cy="219456"/>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32688" y="5559552"/>
            <a:ext cx="1920240" cy="274320"/>
          </a:xfrm>
          <a:prstGeom prst="rect">
            <a:avLst/>
          </a:prstGeom>
          <a:noFill/>
        </p:spPr>
        <p:txBody>
          <a:bodyPr wrap="square" anchor="t">
            <a:spAutoFit/>
          </a:bodyPr>
          <a:lstStyle/>
          <a:p>
            <a:pPr algn="l">
              <a:lnSpc>
                <a:spcPct val="100000"/>
              </a:lnSpc>
              <a:spcBef>
                <a:spcPts val="0"/>
              </a:spcBef>
              <a:spcAft>
                <a:spcPts val="400"/>
              </a:spcAft>
            </a:pPr>
            <a:r>
              <a:rPr sz="1150" b="0" i="0">
                <a:solidFill>
                  <a:srgbClr val="5B6B7B"/>
                </a:solidFill>
                <a:latin typeface="Segoe UI"/>
              </a:rPr>
              <a:t>Deterministic code</a:t>
            </a:r>
          </a:p>
        </p:txBody>
      </p:sp>
      <p:sp>
        <p:nvSpPr>
          <p:cNvPr id="55" name="Rounded Rectangle 54"/>
          <p:cNvSpPr/>
          <p:nvPr/>
        </p:nvSpPr>
        <p:spPr>
          <a:xfrm>
            <a:off x="2852928" y="5596128"/>
            <a:ext cx="219456" cy="219456"/>
          </a:xfrm>
          <a:prstGeom prst="roundRect">
            <a:avLst/>
          </a:prstGeom>
          <a:solidFill>
            <a:srgbClr val="FFF3E6"/>
          </a:solidFill>
          <a:ln w="12700">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145536" y="5559552"/>
            <a:ext cx="1920240" cy="274320"/>
          </a:xfrm>
          <a:prstGeom prst="rect">
            <a:avLst/>
          </a:prstGeom>
          <a:noFill/>
        </p:spPr>
        <p:txBody>
          <a:bodyPr wrap="square" anchor="t">
            <a:spAutoFit/>
          </a:bodyPr>
          <a:lstStyle/>
          <a:p>
            <a:pPr algn="l">
              <a:lnSpc>
                <a:spcPct val="100000"/>
              </a:lnSpc>
              <a:spcBef>
                <a:spcPts val="0"/>
              </a:spcBef>
              <a:spcAft>
                <a:spcPts val="400"/>
              </a:spcAft>
            </a:pPr>
            <a:r>
              <a:rPr sz="1150" b="0" i="0">
                <a:solidFill>
                  <a:srgbClr val="5B6B7B"/>
                </a:solidFill>
                <a:latin typeface="Segoe UI"/>
              </a:rPr>
              <a:t>LLM reasoning</a:t>
            </a:r>
          </a:p>
        </p:txBody>
      </p:sp>
      <p:sp>
        <p:nvSpPr>
          <p:cNvPr id="57" name="Rounded Rectangle 56"/>
          <p:cNvSpPr/>
          <p:nvPr/>
        </p:nvSpPr>
        <p:spPr>
          <a:xfrm>
            <a:off x="5065776" y="5596128"/>
            <a:ext cx="219456" cy="219456"/>
          </a:xfrm>
          <a:prstGeom prst="roundRect">
            <a:avLst/>
          </a:prstGeom>
          <a:solidFill>
            <a:srgbClr val="EFECFB"/>
          </a:solidFill>
          <a:ln w="12700">
            <a:solidFill>
              <a:srgbClr val="5B5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358384" y="5559552"/>
            <a:ext cx="1920240" cy="274320"/>
          </a:xfrm>
          <a:prstGeom prst="rect">
            <a:avLst/>
          </a:prstGeom>
          <a:noFill/>
        </p:spPr>
        <p:txBody>
          <a:bodyPr wrap="square" anchor="t">
            <a:spAutoFit/>
          </a:bodyPr>
          <a:lstStyle/>
          <a:p>
            <a:pPr algn="l">
              <a:lnSpc>
                <a:spcPct val="100000"/>
              </a:lnSpc>
              <a:spcBef>
                <a:spcPts val="0"/>
              </a:spcBef>
              <a:spcAft>
                <a:spcPts val="400"/>
              </a:spcAft>
            </a:pPr>
            <a:r>
              <a:rPr sz="1150" b="0" i="0">
                <a:solidFill>
                  <a:srgbClr val="5B6B7B"/>
                </a:solidFill>
                <a:latin typeface="Segoe UI"/>
              </a:rPr>
              <a:t>Auto checkpoint</a:t>
            </a:r>
          </a:p>
        </p:txBody>
      </p:sp>
      <p:sp>
        <p:nvSpPr>
          <p:cNvPr id="59" name="Rounded Rectangle 58"/>
          <p:cNvSpPr/>
          <p:nvPr/>
        </p:nvSpPr>
        <p:spPr>
          <a:xfrm>
            <a:off x="7278624" y="5596128"/>
            <a:ext cx="219456" cy="219456"/>
          </a:xfrm>
          <a:prstGeom prst="roundRect">
            <a:avLst/>
          </a:prstGeom>
          <a:solidFill>
            <a:srgbClr val="FFF8E1"/>
          </a:solidFill>
          <a:ln w="1270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571231" y="5559552"/>
            <a:ext cx="1920240" cy="274320"/>
          </a:xfrm>
          <a:prstGeom prst="rect">
            <a:avLst/>
          </a:prstGeom>
          <a:noFill/>
        </p:spPr>
        <p:txBody>
          <a:bodyPr wrap="square" anchor="t">
            <a:spAutoFit/>
          </a:bodyPr>
          <a:lstStyle/>
          <a:p>
            <a:pPr algn="l">
              <a:lnSpc>
                <a:spcPct val="100000"/>
              </a:lnSpc>
              <a:spcBef>
                <a:spcPts val="0"/>
              </a:spcBef>
              <a:spcAft>
                <a:spcPts val="400"/>
              </a:spcAft>
            </a:pPr>
            <a:r>
              <a:rPr sz="1150" b="0" i="0">
                <a:solidFill>
                  <a:srgbClr val="5B6B7B"/>
                </a:solidFill>
                <a:latin typeface="Segoe UI"/>
              </a:rPr>
              <a:t>Human gate</a:t>
            </a:r>
          </a:p>
        </p:txBody>
      </p:sp>
      <p:sp>
        <p:nvSpPr>
          <p:cNvPr id="61" name="Rounded Rectangle 60"/>
          <p:cNvSpPr/>
          <p:nvPr/>
        </p:nvSpPr>
        <p:spPr>
          <a:xfrm>
            <a:off x="9491472" y="5596128"/>
            <a:ext cx="219456" cy="219456"/>
          </a:xfrm>
          <a:prstGeom prst="roundRect">
            <a:avLst/>
          </a:prstGeom>
          <a:solidFill>
            <a:srgbClr val="E7F6EA"/>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84080" y="5559552"/>
            <a:ext cx="1920240" cy="274320"/>
          </a:xfrm>
          <a:prstGeom prst="rect">
            <a:avLst/>
          </a:prstGeom>
          <a:noFill/>
        </p:spPr>
        <p:txBody>
          <a:bodyPr wrap="square" anchor="t">
            <a:spAutoFit/>
          </a:bodyPr>
          <a:lstStyle/>
          <a:p>
            <a:pPr algn="l">
              <a:lnSpc>
                <a:spcPct val="100000"/>
              </a:lnSpc>
              <a:spcBef>
                <a:spcPts val="0"/>
              </a:spcBef>
              <a:spcAft>
                <a:spcPts val="400"/>
              </a:spcAft>
            </a:pPr>
            <a:r>
              <a:rPr sz="1150" b="0" i="0">
                <a:solidFill>
                  <a:srgbClr val="5B6B7B"/>
                </a:solidFill>
                <a:latin typeface="Segoe UI"/>
              </a:rPr>
              <a:t>Report / end</a:t>
            </a:r>
          </a:p>
        </p:txBody>
      </p:sp>
      <p:sp>
        <p:nvSpPr>
          <p:cNvPr id="63" name="Rectangle 62"/>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65" name="TextBox 64"/>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8 · Pipeline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SAFETY</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One human gate, two automatic checkpoints</a:t>
            </a:r>
          </a:p>
        </p:txBody>
      </p:sp>
      <p:sp>
        <p:nvSpPr>
          <p:cNvPr id="5" name="TextBox 4"/>
          <p:cNvSpPr txBox="1"/>
          <p:nvPr/>
        </p:nvSpPr>
        <p:spPr>
          <a:xfrm>
            <a:off x="640080" y="1600200"/>
            <a:ext cx="10881360" cy="731520"/>
          </a:xfrm>
          <a:prstGeom prst="rect">
            <a:avLst/>
          </a:prstGeom>
          <a:noFill/>
        </p:spPr>
        <p:txBody>
          <a:bodyPr wrap="square" anchor="t">
            <a:spAutoFit/>
          </a:bodyPr>
          <a:lstStyle/>
          <a:p>
            <a:pPr algn="l">
              <a:lnSpc>
                <a:spcPct val="115000"/>
              </a:lnSpc>
              <a:spcBef>
                <a:spcPts val="0"/>
              </a:spcBef>
              <a:spcAft>
                <a:spcPts val="400"/>
              </a:spcAft>
            </a:pPr>
            <a:r>
              <a:rPr sz="1600" b="0" i="0">
                <a:solidFill>
                  <a:srgbClr val="5B6B7B"/>
                </a:solidFill>
                <a:latin typeface="Segoe UI"/>
              </a:rPr>
              <a:t>Every migration plan is reviewed and every template is security-scanned before deploy — but only a real stack conflict ever stops the run for a human decision.</a:t>
            </a:r>
          </a:p>
        </p:txBody>
      </p:sp>
      <p:sp>
        <p:nvSpPr>
          <p:cNvPr id="6" name="Rounded Rectangle 5"/>
          <p:cNvSpPr/>
          <p:nvPr/>
        </p:nvSpPr>
        <p:spPr>
          <a:xfrm>
            <a:off x="640080" y="2606040"/>
            <a:ext cx="3456432" cy="2286000"/>
          </a:xfrm>
          <a:prstGeom prst="roundRect">
            <a:avLst/>
          </a:prstGeom>
          <a:solidFill>
            <a:srgbClr val="EFECFB"/>
          </a:solidFill>
          <a:ln w="12700">
            <a:solidFill>
              <a:srgbClr val="5B5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770632"/>
            <a:ext cx="3090672" cy="274320"/>
          </a:xfrm>
          <a:prstGeom prst="rect">
            <a:avLst/>
          </a:prstGeom>
          <a:noFill/>
        </p:spPr>
        <p:txBody>
          <a:bodyPr wrap="square" anchor="t">
            <a:spAutoFit/>
          </a:bodyPr>
          <a:lstStyle/>
          <a:p>
            <a:pPr algn="l">
              <a:lnSpc>
                <a:spcPct val="100000"/>
              </a:lnSpc>
              <a:spcBef>
                <a:spcPts val="0"/>
              </a:spcBef>
              <a:spcAft>
                <a:spcPts val="400"/>
              </a:spcAft>
            </a:pPr>
            <a:r>
              <a:rPr sz="1100" b="1" i="0">
                <a:solidFill>
                  <a:srgbClr val="5B5BD6"/>
                </a:solidFill>
                <a:latin typeface="Segoe UI"/>
              </a:rPr>
              <a:t>AUTOMATIC</a:t>
            </a:r>
          </a:p>
        </p:txBody>
      </p:sp>
      <p:sp>
        <p:nvSpPr>
          <p:cNvPr id="8" name="TextBox 7"/>
          <p:cNvSpPr txBox="1"/>
          <p:nvPr/>
        </p:nvSpPr>
        <p:spPr>
          <a:xfrm>
            <a:off x="841247" y="3063240"/>
            <a:ext cx="3090672" cy="365760"/>
          </a:xfrm>
          <a:prstGeom prst="rect">
            <a:avLst/>
          </a:prstGeom>
          <a:noFill/>
        </p:spPr>
        <p:txBody>
          <a:bodyPr wrap="square" anchor="t">
            <a:spAutoFit/>
          </a:bodyPr>
          <a:lstStyle/>
          <a:p>
            <a:pPr algn="l">
              <a:lnSpc>
                <a:spcPct val="100000"/>
              </a:lnSpc>
              <a:spcBef>
                <a:spcPts val="0"/>
              </a:spcBef>
              <a:spcAft>
                <a:spcPts val="400"/>
              </a:spcAft>
            </a:pPr>
            <a:r>
              <a:rPr sz="1550" b="1" i="0">
                <a:solidFill>
                  <a:srgbClr val="5B5BD6"/>
                </a:solidFill>
                <a:latin typeface="Segoe UI"/>
              </a:rPr>
              <a:t>Plan approval</a:t>
            </a:r>
          </a:p>
        </p:txBody>
      </p:sp>
      <p:sp>
        <p:nvSpPr>
          <p:cNvPr id="9" name="TextBox 8"/>
          <p:cNvSpPr txBox="1"/>
          <p:nvPr/>
        </p:nvSpPr>
        <p:spPr>
          <a:xfrm>
            <a:off x="841247" y="3447288"/>
            <a:ext cx="3054096" cy="1371600"/>
          </a:xfrm>
          <a:prstGeom prst="rect">
            <a:avLst/>
          </a:prstGeom>
          <a:noFill/>
        </p:spPr>
        <p:txBody>
          <a:bodyPr wrap="square" anchor="t">
            <a:spAutoFit/>
          </a:bodyPr>
          <a:lstStyle/>
          <a:p>
            <a:pPr algn="l">
              <a:lnSpc>
                <a:spcPct val="103000"/>
              </a:lnSpc>
              <a:spcBef>
                <a:spcPts val="0"/>
              </a:spcBef>
              <a:spcAft>
                <a:spcPts val="400"/>
              </a:spcAft>
            </a:pPr>
            <a:r>
              <a:rPr sz="1250" b="0" i="0">
                <a:solidFill>
                  <a:srgbClr val="5B6B7B"/>
                </a:solidFill>
                <a:latin typeface="Segoe UI"/>
              </a:rPr>
              <a:t>The migration plan and resource mapping table are logged for review once cfn-lint is fully clean; approval is automatic.</a:t>
            </a:r>
          </a:p>
        </p:txBody>
      </p:sp>
      <p:sp>
        <p:nvSpPr>
          <p:cNvPr id="10" name="Rounded Rectangle 9"/>
          <p:cNvSpPr/>
          <p:nvPr/>
        </p:nvSpPr>
        <p:spPr>
          <a:xfrm>
            <a:off x="4352544" y="2606040"/>
            <a:ext cx="3456432" cy="2286000"/>
          </a:xfrm>
          <a:prstGeom prst="roundRect">
            <a:avLst/>
          </a:prstGeom>
          <a:solidFill>
            <a:srgbClr val="EFECFB"/>
          </a:solidFill>
          <a:ln w="12700">
            <a:solidFill>
              <a:srgbClr val="5B5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2770632"/>
            <a:ext cx="3090672" cy="274320"/>
          </a:xfrm>
          <a:prstGeom prst="rect">
            <a:avLst/>
          </a:prstGeom>
          <a:noFill/>
        </p:spPr>
        <p:txBody>
          <a:bodyPr wrap="square" anchor="t">
            <a:spAutoFit/>
          </a:bodyPr>
          <a:lstStyle/>
          <a:p>
            <a:pPr algn="l">
              <a:lnSpc>
                <a:spcPct val="100000"/>
              </a:lnSpc>
              <a:spcBef>
                <a:spcPts val="0"/>
              </a:spcBef>
              <a:spcAft>
                <a:spcPts val="400"/>
              </a:spcAft>
            </a:pPr>
            <a:r>
              <a:rPr sz="1100" b="1" i="0">
                <a:solidFill>
                  <a:srgbClr val="5B5BD6"/>
                </a:solidFill>
                <a:latin typeface="Segoe UI"/>
              </a:rPr>
              <a:t>AUTOMATIC</a:t>
            </a:r>
          </a:p>
        </p:txBody>
      </p:sp>
      <p:sp>
        <p:nvSpPr>
          <p:cNvPr id="12" name="TextBox 11"/>
          <p:cNvSpPr txBox="1"/>
          <p:nvPr/>
        </p:nvSpPr>
        <p:spPr>
          <a:xfrm>
            <a:off x="4553712" y="3063240"/>
            <a:ext cx="3090672" cy="365760"/>
          </a:xfrm>
          <a:prstGeom prst="rect">
            <a:avLst/>
          </a:prstGeom>
          <a:noFill/>
        </p:spPr>
        <p:txBody>
          <a:bodyPr wrap="square" anchor="t">
            <a:spAutoFit/>
          </a:bodyPr>
          <a:lstStyle/>
          <a:p>
            <a:pPr algn="l">
              <a:lnSpc>
                <a:spcPct val="100000"/>
              </a:lnSpc>
              <a:spcBef>
                <a:spcPts val="0"/>
              </a:spcBef>
              <a:spcAft>
                <a:spcPts val="400"/>
              </a:spcAft>
            </a:pPr>
            <a:r>
              <a:rPr sz="1550" b="1" i="0">
                <a:solidFill>
                  <a:srgbClr val="5B5BD6"/>
                </a:solidFill>
                <a:latin typeface="Segoe UI"/>
              </a:rPr>
              <a:t>Guardrail scan</a:t>
            </a:r>
          </a:p>
        </p:txBody>
      </p:sp>
      <p:sp>
        <p:nvSpPr>
          <p:cNvPr id="13" name="TextBox 12"/>
          <p:cNvSpPr txBox="1"/>
          <p:nvPr/>
        </p:nvSpPr>
        <p:spPr>
          <a:xfrm>
            <a:off x="4553712" y="3447288"/>
            <a:ext cx="3054096" cy="1371600"/>
          </a:xfrm>
          <a:prstGeom prst="rect">
            <a:avLst/>
          </a:prstGeom>
          <a:noFill/>
        </p:spPr>
        <p:txBody>
          <a:bodyPr wrap="square" anchor="t">
            <a:spAutoFit/>
          </a:bodyPr>
          <a:lstStyle/>
          <a:p>
            <a:pPr algn="l">
              <a:lnSpc>
                <a:spcPct val="103000"/>
              </a:lnSpc>
              <a:spcBef>
                <a:spcPts val="0"/>
              </a:spcBef>
              <a:spcAft>
                <a:spcPts val="400"/>
              </a:spcAft>
            </a:pPr>
            <a:r>
              <a:rPr sz="1250" b="0" i="0">
                <a:solidFill>
                  <a:srgbClr val="5B6B7B"/>
                </a:solidFill>
                <a:latin typeface="Segoe UI"/>
              </a:rPr>
              <a:t>checkov plus custom checks run next. Every finding is logged to the report regardless of severity, and the run always continues.</a:t>
            </a:r>
          </a:p>
        </p:txBody>
      </p:sp>
      <p:sp>
        <p:nvSpPr>
          <p:cNvPr id="14" name="Rounded Rectangle 13"/>
          <p:cNvSpPr/>
          <p:nvPr/>
        </p:nvSpPr>
        <p:spPr>
          <a:xfrm>
            <a:off x="8065007" y="2606040"/>
            <a:ext cx="3456432" cy="2286000"/>
          </a:xfrm>
          <a:prstGeom prst="roundRect">
            <a:avLst/>
          </a:prstGeom>
          <a:solidFill>
            <a:srgbClr val="FFF8E1"/>
          </a:solidFill>
          <a:ln w="1270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66175" y="2770632"/>
            <a:ext cx="3090672" cy="274320"/>
          </a:xfrm>
          <a:prstGeom prst="rect">
            <a:avLst/>
          </a:prstGeom>
          <a:noFill/>
        </p:spPr>
        <p:txBody>
          <a:bodyPr wrap="square" anchor="t">
            <a:spAutoFit/>
          </a:bodyPr>
          <a:lstStyle/>
          <a:p>
            <a:pPr algn="l">
              <a:lnSpc>
                <a:spcPct val="100000"/>
              </a:lnSpc>
              <a:spcBef>
                <a:spcPts val="0"/>
              </a:spcBef>
              <a:spcAft>
                <a:spcPts val="400"/>
              </a:spcAft>
            </a:pPr>
            <a:r>
              <a:rPr sz="1100" b="1" i="0">
                <a:solidFill>
                  <a:srgbClr val="5B5BD6"/>
                </a:solidFill>
                <a:latin typeface="Segoe UI"/>
              </a:rPr>
              <a:t>HUMAN DECISION</a:t>
            </a:r>
          </a:p>
        </p:txBody>
      </p:sp>
      <p:sp>
        <p:nvSpPr>
          <p:cNvPr id="16" name="TextBox 15"/>
          <p:cNvSpPr txBox="1"/>
          <p:nvPr/>
        </p:nvSpPr>
        <p:spPr>
          <a:xfrm>
            <a:off x="8266175" y="3063240"/>
            <a:ext cx="3090672" cy="365760"/>
          </a:xfrm>
          <a:prstGeom prst="rect">
            <a:avLst/>
          </a:prstGeom>
          <a:noFill/>
        </p:spPr>
        <p:txBody>
          <a:bodyPr wrap="square" anchor="t">
            <a:spAutoFit/>
          </a:bodyPr>
          <a:lstStyle/>
          <a:p>
            <a:pPr algn="l">
              <a:lnSpc>
                <a:spcPct val="100000"/>
              </a:lnSpc>
              <a:spcBef>
                <a:spcPts val="0"/>
              </a:spcBef>
              <a:spcAft>
                <a:spcPts val="400"/>
              </a:spcAft>
            </a:pPr>
            <a:r>
              <a:rPr sz="1550" b="1" i="0">
                <a:solidFill>
                  <a:srgbClr val="B8860B"/>
                </a:solidFill>
                <a:latin typeface="Segoe UI"/>
              </a:rPr>
              <a:t>Stack conflict</a:t>
            </a:r>
          </a:p>
        </p:txBody>
      </p:sp>
      <p:sp>
        <p:nvSpPr>
          <p:cNvPr id="17" name="TextBox 16"/>
          <p:cNvSpPr txBox="1"/>
          <p:nvPr/>
        </p:nvSpPr>
        <p:spPr>
          <a:xfrm>
            <a:off x="8266175" y="3447288"/>
            <a:ext cx="3054096" cy="1371600"/>
          </a:xfrm>
          <a:prstGeom prst="rect">
            <a:avLst/>
          </a:prstGeom>
          <a:noFill/>
        </p:spPr>
        <p:txBody>
          <a:bodyPr wrap="square" anchor="t">
            <a:spAutoFit/>
          </a:bodyPr>
          <a:lstStyle/>
          <a:p>
            <a:pPr algn="l">
              <a:lnSpc>
                <a:spcPct val="103000"/>
              </a:lnSpc>
              <a:spcBef>
                <a:spcPts val="0"/>
              </a:spcBef>
              <a:spcAft>
                <a:spcPts val="400"/>
              </a:spcAft>
            </a:pPr>
            <a:r>
              <a:rPr sz="1250" b="0" i="0">
                <a:solidFill>
                  <a:srgbClr val="5B6B7B"/>
                </a:solidFill>
                <a:latin typeface="Segoe UI"/>
              </a:rPr>
              <a:t>The only interactive prompt — fires only when the target stack already exists. Choose delete-and-recreate or cancel.</a:t>
            </a:r>
          </a:p>
        </p:txBody>
      </p:sp>
      <p:sp>
        <p:nvSpPr>
          <p:cNvPr id="18" name="TextBox 17"/>
          <p:cNvSpPr txBox="1"/>
          <p:nvPr/>
        </p:nvSpPr>
        <p:spPr>
          <a:xfrm>
            <a:off x="640080" y="5212080"/>
            <a:ext cx="10881360" cy="822960"/>
          </a:xfrm>
          <a:prstGeom prst="rect">
            <a:avLst/>
          </a:prstGeom>
          <a:noFill/>
        </p:spPr>
        <p:txBody>
          <a:bodyPr wrap="square" anchor="t">
            <a:spAutoFit/>
          </a:bodyPr>
          <a:lstStyle/>
          <a:p>
            <a:pPr algn="l">
              <a:lnSpc>
                <a:spcPct val="110000"/>
              </a:lnSpc>
              <a:spcBef>
                <a:spcPts val="0"/>
              </a:spcBef>
              <a:spcAft>
                <a:spcPts val="400"/>
              </a:spcAft>
            </a:pPr>
            <a:r>
              <a:rPr sz="1500" b="1" i="0">
                <a:solidFill>
                  <a:srgbClr val="1B2733"/>
                </a:solidFill>
                <a:latin typeface="Segoe UI"/>
              </a:rPr>
              <a:t>Once the stack gate clears, deployment is fully automatic</a:t>
            </a:r>
            <a:r>
              <a:rPr sz="1500" b="0" i="0">
                <a:solidFill>
                  <a:srgbClr val="5B6B7B"/>
                </a:solidFill>
                <a:latin typeface="Segoe UI"/>
              </a:rPr>
              <a:t> — no confirmation prompt and no manual parameter entry. Parameter values resolve from files, environment variables, or the source Key Vault in a clear priority order.</a:t>
            </a:r>
          </a:p>
        </p:txBody>
      </p:sp>
      <p:sp>
        <p:nvSpPr>
          <p:cNvPr id="19" name="Rectangle 18"/>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21" name="TextBox 20"/>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9 · Human Gates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SECURITY &amp; GUARDRAILS</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Scanning for risks and protecting secrets</a:t>
            </a:r>
          </a:p>
        </p:txBody>
      </p:sp>
      <p:sp>
        <p:nvSpPr>
          <p:cNvPr id="5" name="TextBox 4"/>
          <p:cNvSpPr txBox="1"/>
          <p:nvPr/>
        </p:nvSpPr>
        <p:spPr>
          <a:xfrm>
            <a:off x="640080" y="1645920"/>
            <a:ext cx="5394960" cy="365760"/>
          </a:xfrm>
          <a:prstGeom prst="rect">
            <a:avLst/>
          </a:prstGeom>
          <a:noFill/>
        </p:spPr>
        <p:txBody>
          <a:bodyPr wrap="square" anchor="t">
            <a:spAutoFit/>
          </a:bodyPr>
          <a:lstStyle/>
          <a:p>
            <a:pPr algn="l">
              <a:lnSpc>
                <a:spcPct val="100000"/>
              </a:lnSpc>
              <a:spcBef>
                <a:spcPts val="0"/>
              </a:spcBef>
              <a:spcAft>
                <a:spcPts val="400"/>
              </a:spcAft>
            </a:pPr>
            <a:r>
              <a:rPr sz="1600" b="1" i="0">
                <a:solidFill>
                  <a:srgbClr val="0078D4"/>
                </a:solidFill>
                <a:latin typeface="Segoe UI"/>
              </a:rPr>
              <a:t>Guardrail security scan</a:t>
            </a:r>
          </a:p>
        </p:txBody>
      </p:sp>
      <p:sp>
        <p:nvSpPr>
          <p:cNvPr id="6" name="TextBox 5"/>
          <p:cNvSpPr txBox="1"/>
          <p:nvPr/>
        </p:nvSpPr>
        <p:spPr>
          <a:xfrm>
            <a:off x="640080" y="2103120"/>
            <a:ext cx="5394960" cy="2743200"/>
          </a:xfrm>
          <a:prstGeom prst="rect">
            <a:avLst/>
          </a:prstGeom>
          <a:noFill/>
        </p:spPr>
        <p:txBody>
          <a:bodyPr wrap="square" anchor="t">
            <a:spAutoFit/>
          </a:bodyPr>
          <a:lstStyle/>
          <a:p>
            <a:pPr algn="l">
              <a:lnSpc>
                <a:spcPct val="105000"/>
              </a:lnSpc>
              <a:spcBef>
                <a:spcPts val="0"/>
              </a:spcBef>
              <a:spcAft>
                <a:spcPts val="800"/>
              </a:spcAft>
            </a:pPr>
            <a:r>
              <a:rPr sz="1400" b="1" i="0">
                <a:solidFill>
                  <a:srgbClr val="0078D4"/>
                </a:solidFill>
                <a:latin typeface="Segoe UI"/>
              </a:rPr>
              <a:t>•  </a:t>
            </a:r>
            <a:r>
              <a:rPr sz="1400" b="1" i="0">
                <a:solidFill>
                  <a:srgbClr val="1B2733"/>
                </a:solidFill>
                <a:latin typeface="Segoe UI"/>
              </a:rPr>
              <a:t>checkov</a:t>
            </a:r>
            <a:r>
              <a:rPr sz="1400" b="0" i="0">
                <a:solidFill>
                  <a:srgbClr val="1B2733"/>
                </a:solidFill>
                <a:latin typeface="Segoe UI"/>
              </a:rPr>
              <a:t> — ~1000 built-in CloudFormation policy checks (encryption, public access, logging).</a:t>
            </a:r>
          </a:p>
          <a:p>
            <a:pPr algn="l">
              <a:lnSpc>
                <a:spcPct val="105000"/>
              </a:lnSpc>
              <a:spcBef>
                <a:spcPts val="0"/>
              </a:spcBef>
              <a:spcAft>
                <a:spcPts val="800"/>
              </a:spcAft>
            </a:pPr>
            <a:r>
              <a:rPr sz="1400" b="1" i="0">
                <a:solidFill>
                  <a:srgbClr val="0078D4"/>
                </a:solidFill>
                <a:latin typeface="Segoe UI"/>
              </a:rPr>
              <a:t>•  </a:t>
            </a:r>
            <a:r>
              <a:rPr sz="1400" b="1" i="0">
                <a:solidFill>
                  <a:srgbClr val="1B2733"/>
                </a:solidFill>
                <a:latin typeface="Segoe UI"/>
              </a:rPr>
              <a:t>Hardcoded secrets</a:t>
            </a:r>
            <a:r>
              <a:rPr sz="1400" b="0" i="0">
                <a:solidFill>
                  <a:srgbClr val="1B2733"/>
                </a:solidFill>
                <a:latin typeface="Segoe UI"/>
              </a:rPr>
              <a:t> — flags literal secret values outside NoEcho parameters.</a:t>
            </a:r>
          </a:p>
          <a:p>
            <a:pPr algn="l">
              <a:lnSpc>
                <a:spcPct val="105000"/>
              </a:lnSpc>
              <a:spcBef>
                <a:spcPts val="0"/>
              </a:spcBef>
              <a:spcAft>
                <a:spcPts val="800"/>
              </a:spcAft>
            </a:pPr>
            <a:r>
              <a:rPr sz="1400" b="1" i="0">
                <a:solidFill>
                  <a:srgbClr val="0078D4"/>
                </a:solidFill>
                <a:latin typeface="Segoe UI"/>
              </a:rPr>
              <a:t>•  </a:t>
            </a:r>
            <a:r>
              <a:rPr sz="1400" b="1" i="0">
                <a:solidFill>
                  <a:srgbClr val="1B2733"/>
                </a:solidFill>
                <a:latin typeface="Segoe UI"/>
              </a:rPr>
              <a:t>Over-permissive IAM</a:t>
            </a:r>
            <a:r>
              <a:rPr sz="1400" b="0" i="0">
                <a:solidFill>
                  <a:srgbClr val="1B2733"/>
                </a:solidFill>
                <a:latin typeface="Segoe UI"/>
              </a:rPr>
              <a:t> — flags wildcard Action / Resource / Principal.</a:t>
            </a:r>
          </a:p>
          <a:p>
            <a:pPr algn="l">
              <a:lnSpc>
                <a:spcPct val="105000"/>
              </a:lnSpc>
              <a:spcBef>
                <a:spcPts val="0"/>
              </a:spcBef>
              <a:spcAft>
                <a:spcPts val="800"/>
              </a:spcAft>
            </a:pPr>
            <a:r>
              <a:rPr sz="1400" b="1" i="0">
                <a:solidFill>
                  <a:srgbClr val="0078D4"/>
                </a:solidFill>
                <a:latin typeface="Segoe UI"/>
              </a:rPr>
              <a:t>•  </a:t>
            </a:r>
            <a:r>
              <a:rPr sz="1400" b="1" i="0">
                <a:solidFill>
                  <a:srgbClr val="1B2733"/>
                </a:solidFill>
                <a:latin typeface="Segoe UI"/>
              </a:rPr>
              <a:t>Open network ingress</a:t>
            </a:r>
            <a:r>
              <a:rPr sz="1400" b="0" i="0">
                <a:solidFill>
                  <a:srgbClr val="1B2733"/>
                </a:solidFill>
                <a:latin typeface="Segoe UI"/>
              </a:rPr>
              <a:t> — flags security groups open to 0.0.0.0/0 on sensitive ports.</a:t>
            </a:r>
          </a:p>
        </p:txBody>
      </p:sp>
      <p:sp>
        <p:nvSpPr>
          <p:cNvPr id="7" name="TextBox 6"/>
          <p:cNvSpPr txBox="1"/>
          <p:nvPr/>
        </p:nvSpPr>
        <p:spPr>
          <a:xfrm>
            <a:off x="6263640" y="1645920"/>
            <a:ext cx="5257800" cy="365760"/>
          </a:xfrm>
          <a:prstGeom prst="rect">
            <a:avLst/>
          </a:prstGeom>
          <a:noFill/>
        </p:spPr>
        <p:txBody>
          <a:bodyPr wrap="square" anchor="t">
            <a:spAutoFit/>
          </a:bodyPr>
          <a:lstStyle/>
          <a:p>
            <a:pPr algn="l">
              <a:lnSpc>
                <a:spcPct val="100000"/>
              </a:lnSpc>
              <a:spcBef>
                <a:spcPts val="0"/>
              </a:spcBef>
              <a:spcAft>
                <a:spcPts val="400"/>
              </a:spcAft>
            </a:pPr>
            <a:r>
              <a:rPr sz="1600" b="1" i="0">
                <a:solidFill>
                  <a:srgbClr val="0078D4"/>
                </a:solidFill>
                <a:latin typeface="Segoe UI"/>
              </a:rPr>
              <a:t>Secrets handling</a:t>
            </a:r>
          </a:p>
        </p:txBody>
      </p:sp>
      <p:sp>
        <p:nvSpPr>
          <p:cNvPr id="8" name="TextBox 7"/>
          <p:cNvSpPr txBox="1"/>
          <p:nvPr/>
        </p:nvSpPr>
        <p:spPr>
          <a:xfrm>
            <a:off x="6263640" y="2103120"/>
            <a:ext cx="5257800" cy="2743200"/>
          </a:xfrm>
          <a:prstGeom prst="rect">
            <a:avLst/>
          </a:prstGeom>
          <a:noFill/>
        </p:spPr>
        <p:txBody>
          <a:bodyPr wrap="square" anchor="t">
            <a:spAutoFit/>
          </a:bodyPr>
          <a:lstStyle/>
          <a:p>
            <a:pPr algn="l">
              <a:lnSpc>
                <a:spcPct val="105000"/>
              </a:lnSpc>
              <a:spcBef>
                <a:spcPts val="0"/>
              </a:spcBef>
              <a:spcAft>
                <a:spcPts val="800"/>
              </a:spcAft>
            </a:pPr>
            <a:r>
              <a:rPr sz="1400" b="1" i="0">
                <a:solidFill>
                  <a:srgbClr val="0078D4"/>
                </a:solidFill>
                <a:latin typeface="Segoe UI"/>
              </a:rPr>
              <a:t>•  </a:t>
            </a:r>
            <a:r>
              <a:rPr sz="1400" b="0" i="0">
                <a:solidFill>
                  <a:srgbClr val="1B2733"/>
                </a:solidFill>
                <a:latin typeface="Segoe UI"/>
              </a:rPr>
              <a:t>Secret values print as </a:t>
            </a:r>
            <a:r>
              <a:rPr sz="1400" b="1" i="0">
                <a:solidFill>
                  <a:srgbClr val="1B2733"/>
                </a:solidFill>
                <a:latin typeface="Segoe UI"/>
              </a:rPr>
              <a:t>***</a:t>
            </a:r>
            <a:r>
              <a:rPr sz="1400" b="0" i="0">
                <a:solidFill>
                  <a:srgbClr val="1B2733"/>
                </a:solidFill>
                <a:latin typeface="Segoe UI"/>
              </a:rPr>
              <a:t> in logs and state dumps.</a:t>
            </a:r>
          </a:p>
          <a:p>
            <a:pPr algn="l">
              <a:lnSpc>
                <a:spcPct val="105000"/>
              </a:lnSpc>
              <a:spcBef>
                <a:spcPts val="0"/>
              </a:spcBef>
              <a:spcAft>
                <a:spcPts val="800"/>
              </a:spcAft>
            </a:pPr>
            <a:r>
              <a:rPr sz="1400" b="1" i="0">
                <a:solidFill>
                  <a:srgbClr val="0078D4"/>
                </a:solidFill>
                <a:latin typeface="Segoe UI"/>
              </a:rPr>
              <a:t>•  </a:t>
            </a:r>
            <a:r>
              <a:rPr sz="1400" b="0" i="0">
                <a:solidFill>
                  <a:srgbClr val="1B2733"/>
                </a:solidFill>
                <a:latin typeface="Segoe UI"/>
              </a:rPr>
              <a:t>A root logging filter redacts secrets before any handler.</a:t>
            </a:r>
          </a:p>
          <a:p>
            <a:pPr algn="l">
              <a:lnSpc>
                <a:spcPct val="105000"/>
              </a:lnSpc>
              <a:spcBef>
                <a:spcPts val="0"/>
              </a:spcBef>
              <a:spcAft>
                <a:spcPts val="800"/>
              </a:spcAft>
            </a:pPr>
            <a:r>
              <a:rPr sz="1400" b="1" i="0">
                <a:solidFill>
                  <a:srgbClr val="0078D4"/>
                </a:solidFill>
                <a:latin typeface="Segoe UI"/>
              </a:rPr>
              <a:t>•  </a:t>
            </a:r>
            <a:r>
              <a:rPr sz="1400" b="1" i="0">
                <a:solidFill>
                  <a:srgbClr val="1B2733"/>
                </a:solidFill>
                <a:latin typeface="Segoe UI"/>
              </a:rPr>
              <a:t>Plaintext never written to disk</a:t>
            </a:r>
            <a:r>
              <a:rPr sz="1400" b="0" i="0">
                <a:solidFill>
                  <a:srgbClr val="1B2733"/>
                </a:solidFill>
                <a:latin typeface="Segoe UI"/>
              </a:rPr>
              <a:t>; revealed only at the AWS API boundary.</a:t>
            </a:r>
          </a:p>
          <a:p>
            <a:pPr algn="l">
              <a:lnSpc>
                <a:spcPct val="105000"/>
              </a:lnSpc>
              <a:spcBef>
                <a:spcPts val="0"/>
              </a:spcBef>
              <a:spcAft>
                <a:spcPts val="800"/>
              </a:spcAft>
            </a:pPr>
            <a:r>
              <a:rPr sz="1400" b="1" i="0">
                <a:solidFill>
                  <a:srgbClr val="0078D4"/>
                </a:solidFill>
                <a:latin typeface="Segoe UI"/>
              </a:rPr>
              <a:t>•  </a:t>
            </a:r>
            <a:r>
              <a:rPr sz="1400" b="0" i="0">
                <a:solidFill>
                  <a:srgbClr val="1B2733"/>
                </a:solidFill>
                <a:latin typeface="Segoe UI"/>
              </a:rPr>
              <a:t>No secrets via CLI flags — avoids shell history exposure.</a:t>
            </a:r>
          </a:p>
        </p:txBody>
      </p:sp>
      <p:sp>
        <p:nvSpPr>
          <p:cNvPr id="9" name="Rounded Rectangle 8"/>
          <p:cNvSpPr/>
          <p:nvPr/>
        </p:nvSpPr>
        <p:spPr>
          <a:xfrm>
            <a:off x="640080" y="5029200"/>
            <a:ext cx="10899648" cy="91440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230368"/>
            <a:ext cx="10424160" cy="640080"/>
          </a:xfrm>
          <a:prstGeom prst="rect">
            <a:avLst/>
          </a:prstGeom>
          <a:noFill/>
        </p:spPr>
        <p:txBody>
          <a:bodyPr wrap="square" anchor="t">
            <a:spAutoFit/>
          </a:bodyPr>
          <a:lstStyle/>
          <a:p>
            <a:pPr algn="l">
              <a:lnSpc>
                <a:spcPct val="110000"/>
              </a:lnSpc>
              <a:spcBef>
                <a:spcPts val="0"/>
              </a:spcBef>
              <a:spcAft>
                <a:spcPts val="400"/>
              </a:spcAft>
            </a:pPr>
            <a:r>
              <a:rPr sz="1450" b="1" i="0">
                <a:solidFill>
                  <a:srgbClr val="1B2733"/>
                </a:solidFill>
                <a:latin typeface="Segoe UI"/>
              </a:rPr>
              <a:t>Severity drives visibility, not blocking: </a:t>
            </a:r>
            <a:r>
              <a:rPr sz="1450" b="0" i="0">
                <a:solidFill>
                  <a:srgbClr val="5B6B7B"/>
                </a:solidFill>
                <a:latin typeface="Segoe UI"/>
              </a:rPr>
              <a:t>every finding is logged to the run report and CLI, HIGH / CRITICAL ones are called out, and the run always auto-continues.</a:t>
            </a:r>
          </a:p>
        </p:txBody>
      </p:sp>
      <p:sp>
        <p:nvSpPr>
          <p:cNvPr id="11" name="Rectangle 10"/>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13" name="TextBox 12"/>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10 · Security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KNOWLEDGE BASE &amp; RAG</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Grounded mappings, not guesswork</a:t>
            </a:r>
          </a:p>
        </p:txBody>
      </p:sp>
      <p:sp>
        <p:nvSpPr>
          <p:cNvPr id="5" name="TextBox 4"/>
          <p:cNvSpPr txBox="1"/>
          <p:nvPr/>
        </p:nvSpPr>
        <p:spPr>
          <a:xfrm>
            <a:off x="640080" y="1783080"/>
            <a:ext cx="10881360" cy="822960"/>
          </a:xfrm>
          <a:prstGeom prst="rect">
            <a:avLst/>
          </a:prstGeom>
          <a:noFill/>
        </p:spPr>
        <p:txBody>
          <a:bodyPr wrap="square" anchor="t">
            <a:spAutoFit/>
          </a:bodyPr>
          <a:lstStyle/>
          <a:p>
            <a:pPr algn="l">
              <a:lnSpc>
                <a:spcPct val="120000"/>
              </a:lnSpc>
              <a:spcBef>
                <a:spcPts val="0"/>
              </a:spcBef>
              <a:spcAft>
                <a:spcPts val="400"/>
              </a:spcAft>
            </a:pPr>
            <a:r>
              <a:rPr sz="1600" b="0" i="0">
                <a:solidFill>
                  <a:srgbClr val="5B6B7B"/>
                </a:solidFill>
                <a:latin typeface="Segoe UI"/>
              </a:rPr>
              <a:t>Each Azure resource type maps to a human-reviewed markdown document describing its AWS equivalent. The LLM retrieves the right docs before reasoning — so its plan is grounded in trusted guidance.</a:t>
            </a:r>
          </a:p>
        </p:txBody>
      </p:sp>
      <p:sp>
        <p:nvSpPr>
          <p:cNvPr id="6" name="Rounded Rectangle 5"/>
          <p:cNvSpPr/>
          <p:nvPr/>
        </p:nvSpPr>
        <p:spPr>
          <a:xfrm>
            <a:off x="640080" y="3108960"/>
            <a:ext cx="3456432" cy="228600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3273552"/>
            <a:ext cx="3090672" cy="365760"/>
          </a:xfrm>
          <a:prstGeom prst="rect">
            <a:avLst/>
          </a:prstGeom>
          <a:noFill/>
        </p:spPr>
        <p:txBody>
          <a:bodyPr wrap="square" anchor="t">
            <a:spAutoFit/>
          </a:bodyPr>
          <a:lstStyle/>
          <a:p>
            <a:pPr algn="l">
              <a:lnSpc>
                <a:spcPct val="100000"/>
              </a:lnSpc>
              <a:spcBef>
                <a:spcPts val="0"/>
              </a:spcBef>
              <a:spcAft>
                <a:spcPts val="400"/>
              </a:spcAft>
            </a:pPr>
            <a:r>
              <a:rPr sz="1550" b="1" i="0">
                <a:solidFill>
                  <a:srgbClr val="0078D4"/>
                </a:solidFill>
                <a:latin typeface="Segoe UI"/>
              </a:rPr>
              <a:t>Mapping docs</a:t>
            </a:r>
          </a:p>
        </p:txBody>
      </p:sp>
      <p:sp>
        <p:nvSpPr>
          <p:cNvPr id="8" name="TextBox 7"/>
          <p:cNvSpPr txBox="1"/>
          <p:nvPr/>
        </p:nvSpPr>
        <p:spPr>
          <a:xfrm>
            <a:off x="841247" y="3657600"/>
            <a:ext cx="3054096" cy="1664207"/>
          </a:xfrm>
          <a:prstGeom prst="rect">
            <a:avLst/>
          </a:prstGeom>
          <a:noFill/>
        </p:spPr>
        <p:txBody>
          <a:bodyPr wrap="square" anchor="t">
            <a:spAutoFit/>
          </a:bodyPr>
          <a:lstStyle/>
          <a:p>
            <a:pPr algn="l">
              <a:lnSpc>
                <a:spcPct val="103000"/>
              </a:lnSpc>
              <a:spcBef>
                <a:spcPts val="0"/>
              </a:spcBef>
              <a:spcAft>
                <a:spcPts val="400"/>
              </a:spcAft>
            </a:pPr>
            <a:r>
              <a:rPr sz="1250" b="0" i="0">
                <a:solidFill>
                  <a:srgbClr val="5B6B7B"/>
                </a:solidFill>
                <a:latin typeface="Segoe UI"/>
              </a:rPr>
              <a:t>Concept differences plus resource, parameter, and property mappings for each Azure → AWS pair.</a:t>
            </a:r>
          </a:p>
        </p:txBody>
      </p:sp>
      <p:sp>
        <p:nvSpPr>
          <p:cNvPr id="9" name="Rounded Rectangle 8"/>
          <p:cNvSpPr/>
          <p:nvPr/>
        </p:nvSpPr>
        <p:spPr>
          <a:xfrm>
            <a:off x="4352544" y="3108960"/>
            <a:ext cx="3456432" cy="228600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3273552"/>
            <a:ext cx="3090672" cy="365760"/>
          </a:xfrm>
          <a:prstGeom prst="rect">
            <a:avLst/>
          </a:prstGeom>
          <a:noFill/>
        </p:spPr>
        <p:txBody>
          <a:bodyPr wrap="square" anchor="t">
            <a:spAutoFit/>
          </a:bodyPr>
          <a:lstStyle/>
          <a:p>
            <a:pPr algn="l">
              <a:lnSpc>
                <a:spcPct val="100000"/>
              </a:lnSpc>
              <a:spcBef>
                <a:spcPts val="0"/>
              </a:spcBef>
              <a:spcAft>
                <a:spcPts val="400"/>
              </a:spcAft>
            </a:pPr>
            <a:r>
              <a:rPr sz="1550" b="1" i="0">
                <a:solidFill>
                  <a:srgbClr val="0078D4"/>
                </a:solidFill>
                <a:latin typeface="Segoe UI"/>
              </a:rPr>
              <a:t>Hybrid retrieval</a:t>
            </a:r>
          </a:p>
        </p:txBody>
      </p:sp>
      <p:sp>
        <p:nvSpPr>
          <p:cNvPr id="11" name="TextBox 10"/>
          <p:cNvSpPr txBox="1"/>
          <p:nvPr/>
        </p:nvSpPr>
        <p:spPr>
          <a:xfrm>
            <a:off x="4553712" y="3657600"/>
            <a:ext cx="3054096" cy="1664207"/>
          </a:xfrm>
          <a:prstGeom prst="rect">
            <a:avLst/>
          </a:prstGeom>
          <a:noFill/>
        </p:spPr>
        <p:txBody>
          <a:bodyPr wrap="square" anchor="t">
            <a:spAutoFit/>
          </a:bodyPr>
          <a:lstStyle/>
          <a:p>
            <a:pPr algn="l">
              <a:lnSpc>
                <a:spcPct val="103000"/>
              </a:lnSpc>
              <a:spcBef>
                <a:spcPts val="0"/>
              </a:spcBef>
              <a:spcAft>
                <a:spcPts val="400"/>
              </a:spcAft>
            </a:pPr>
            <a:r>
              <a:rPr sz="1250" b="0" i="0">
                <a:solidFill>
                  <a:srgbClr val="5B6B7B"/>
                </a:solidFill>
                <a:latin typeface="Segoe UI"/>
              </a:rPr>
              <a:t>Vector search (Chroma) fused with BM25 keyword scoring via reciprocal rank fusion for better recall.</a:t>
            </a:r>
          </a:p>
        </p:txBody>
      </p:sp>
      <p:sp>
        <p:nvSpPr>
          <p:cNvPr id="12" name="Rounded Rectangle 11"/>
          <p:cNvSpPr/>
          <p:nvPr/>
        </p:nvSpPr>
        <p:spPr>
          <a:xfrm>
            <a:off x="8065007" y="3108960"/>
            <a:ext cx="3456432" cy="228600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66175" y="3273552"/>
            <a:ext cx="3090672" cy="365760"/>
          </a:xfrm>
          <a:prstGeom prst="rect">
            <a:avLst/>
          </a:prstGeom>
          <a:noFill/>
        </p:spPr>
        <p:txBody>
          <a:bodyPr wrap="square" anchor="t">
            <a:spAutoFit/>
          </a:bodyPr>
          <a:lstStyle/>
          <a:p>
            <a:pPr algn="l">
              <a:lnSpc>
                <a:spcPct val="100000"/>
              </a:lnSpc>
              <a:spcBef>
                <a:spcPts val="0"/>
              </a:spcBef>
              <a:spcAft>
                <a:spcPts val="400"/>
              </a:spcAft>
            </a:pPr>
            <a:r>
              <a:rPr sz="1550" b="1" i="0">
                <a:solidFill>
                  <a:srgbClr val="0078D4"/>
                </a:solidFill>
                <a:latin typeface="Segoe UI"/>
              </a:rPr>
              <a:t>Seed-and-grow</a:t>
            </a:r>
          </a:p>
        </p:txBody>
      </p:sp>
      <p:sp>
        <p:nvSpPr>
          <p:cNvPr id="14" name="TextBox 13"/>
          <p:cNvSpPr txBox="1"/>
          <p:nvPr/>
        </p:nvSpPr>
        <p:spPr>
          <a:xfrm>
            <a:off x="8266175" y="3657600"/>
            <a:ext cx="3054096" cy="1664207"/>
          </a:xfrm>
          <a:prstGeom prst="rect">
            <a:avLst/>
          </a:prstGeom>
          <a:noFill/>
        </p:spPr>
        <p:txBody>
          <a:bodyPr wrap="square" anchor="t">
            <a:spAutoFit/>
          </a:bodyPr>
          <a:lstStyle/>
          <a:p>
            <a:pPr algn="l">
              <a:lnSpc>
                <a:spcPct val="103000"/>
              </a:lnSpc>
              <a:spcBef>
                <a:spcPts val="0"/>
              </a:spcBef>
              <a:spcAft>
                <a:spcPts val="400"/>
              </a:spcAft>
            </a:pPr>
            <a:r>
              <a:rPr sz="1250" b="0" i="0">
                <a:solidFill>
                  <a:srgbClr val="5B6B7B"/>
                </a:solidFill>
                <a:latin typeface="Segoe UI"/>
              </a:rPr>
              <a:t>An unmapped resource type is logged and skipped automatically; the pipeline still migrates every resource it does understand.</a:t>
            </a:r>
          </a:p>
        </p:txBody>
      </p:sp>
      <p:sp>
        <p:nvSpPr>
          <p:cNvPr id="15" name="TextBox 14"/>
          <p:cNvSpPr txBox="1"/>
          <p:nvPr/>
        </p:nvSpPr>
        <p:spPr>
          <a:xfrm>
            <a:off x="640080" y="5623560"/>
            <a:ext cx="10881360" cy="548640"/>
          </a:xfrm>
          <a:prstGeom prst="rect">
            <a:avLst/>
          </a:prstGeom>
          <a:noFill/>
        </p:spPr>
        <p:txBody>
          <a:bodyPr wrap="square" anchor="t">
            <a:spAutoFit/>
          </a:bodyPr>
          <a:lstStyle/>
          <a:p>
            <a:pPr algn="l">
              <a:lnSpc>
                <a:spcPct val="110000"/>
              </a:lnSpc>
              <a:spcBef>
                <a:spcPts val="0"/>
              </a:spcBef>
              <a:spcAft>
                <a:spcPts val="400"/>
              </a:spcAft>
            </a:pPr>
            <a:r>
              <a:rPr sz="1500" b="0" i="0">
                <a:solidFill>
                  <a:srgbClr val="5B6B7B"/>
                </a:solidFill>
                <a:latin typeface="Segoe UI"/>
              </a:rPr>
              <a:t>Coverage grows by authoring a new mapping doc — no silent guessing, and no resource is ever migrated without a trusted, human-reviewed mapping behind it.</a:t>
            </a:r>
          </a:p>
        </p:txBody>
      </p:sp>
      <p:sp>
        <p:nvSpPr>
          <p:cNvPr id="16" name="Rectangle 15"/>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18" name="TextBox 17"/>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11 · Knowledge Base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RESOURCE COVERAGE</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What the agent can migrate today</a:t>
            </a:r>
          </a:p>
        </p:txBody>
      </p:sp>
      <p:sp>
        <p:nvSpPr>
          <p:cNvPr id="5" name="TextBox 4"/>
          <p:cNvSpPr txBox="1"/>
          <p:nvPr/>
        </p:nvSpPr>
        <p:spPr>
          <a:xfrm>
            <a:off x="640080" y="1691640"/>
            <a:ext cx="3108960" cy="274320"/>
          </a:xfrm>
          <a:prstGeom prst="rect">
            <a:avLst/>
          </a:prstGeom>
          <a:noFill/>
        </p:spPr>
        <p:txBody>
          <a:bodyPr wrap="square" anchor="t">
            <a:spAutoFit/>
          </a:bodyPr>
          <a:lstStyle/>
          <a:p>
            <a:pPr algn="l">
              <a:lnSpc>
                <a:spcPct val="100000"/>
              </a:lnSpc>
              <a:spcBef>
                <a:spcPts val="0"/>
              </a:spcBef>
              <a:spcAft>
                <a:spcPts val="400"/>
              </a:spcAft>
            </a:pPr>
            <a:r>
              <a:rPr sz="1100" b="1" i="0">
                <a:solidFill>
                  <a:srgbClr val="5B6B7B"/>
                </a:solidFill>
                <a:latin typeface="Segoe UI"/>
              </a:rPr>
              <a:t>AZURE</a:t>
            </a:r>
          </a:p>
        </p:txBody>
      </p:sp>
      <p:sp>
        <p:nvSpPr>
          <p:cNvPr id="6" name="TextBox 5"/>
          <p:cNvSpPr txBox="1"/>
          <p:nvPr/>
        </p:nvSpPr>
        <p:spPr>
          <a:xfrm>
            <a:off x="4480560" y="1691640"/>
            <a:ext cx="2743200" cy="274320"/>
          </a:xfrm>
          <a:prstGeom prst="rect">
            <a:avLst/>
          </a:prstGeom>
          <a:noFill/>
        </p:spPr>
        <p:txBody>
          <a:bodyPr wrap="square" anchor="t">
            <a:spAutoFit/>
          </a:bodyPr>
          <a:lstStyle/>
          <a:p>
            <a:pPr algn="l">
              <a:lnSpc>
                <a:spcPct val="100000"/>
              </a:lnSpc>
              <a:spcBef>
                <a:spcPts val="0"/>
              </a:spcBef>
              <a:spcAft>
                <a:spcPts val="400"/>
              </a:spcAft>
            </a:pPr>
            <a:r>
              <a:rPr sz="1100" b="1" i="0">
                <a:solidFill>
                  <a:srgbClr val="5B6B7B"/>
                </a:solidFill>
                <a:latin typeface="Segoe UI"/>
              </a:rPr>
              <a:t>AWS</a:t>
            </a:r>
          </a:p>
        </p:txBody>
      </p:sp>
      <p:sp>
        <p:nvSpPr>
          <p:cNvPr id="7" name="TextBox 6"/>
          <p:cNvSpPr txBox="1"/>
          <p:nvPr/>
        </p:nvSpPr>
        <p:spPr>
          <a:xfrm>
            <a:off x="7315200" y="1691640"/>
            <a:ext cx="4206240" cy="274320"/>
          </a:xfrm>
          <a:prstGeom prst="rect">
            <a:avLst/>
          </a:prstGeom>
          <a:noFill/>
        </p:spPr>
        <p:txBody>
          <a:bodyPr wrap="square" anchor="t">
            <a:spAutoFit/>
          </a:bodyPr>
          <a:lstStyle/>
          <a:p>
            <a:pPr algn="l">
              <a:lnSpc>
                <a:spcPct val="100000"/>
              </a:lnSpc>
              <a:spcBef>
                <a:spcPts val="0"/>
              </a:spcBef>
              <a:spcAft>
                <a:spcPts val="400"/>
              </a:spcAft>
            </a:pPr>
            <a:r>
              <a:rPr sz="1100" b="1" i="0">
                <a:solidFill>
                  <a:srgbClr val="5B6B7B"/>
                </a:solidFill>
                <a:latin typeface="Segoe UI"/>
              </a:rPr>
              <a:t>SCOPE</a:t>
            </a:r>
          </a:p>
        </p:txBody>
      </p:sp>
      <p:sp>
        <p:nvSpPr>
          <p:cNvPr id="8" name="Rectangle 7"/>
          <p:cNvSpPr/>
          <p:nvPr/>
        </p:nvSpPr>
        <p:spPr>
          <a:xfrm>
            <a:off x="640080" y="2020824"/>
            <a:ext cx="10908792" cy="10972"/>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67128"/>
            <a:ext cx="3200400" cy="457200"/>
          </a:xfrm>
          <a:prstGeom prst="rect">
            <a:avLst/>
          </a:prstGeom>
          <a:noFill/>
        </p:spPr>
        <p:txBody>
          <a:bodyPr wrap="square" anchor="t">
            <a:spAutoFit/>
          </a:bodyPr>
          <a:lstStyle/>
          <a:p>
            <a:pPr algn="l">
              <a:lnSpc>
                <a:spcPct val="95000"/>
              </a:lnSpc>
              <a:spcBef>
                <a:spcPts val="0"/>
              </a:spcBef>
              <a:spcAft>
                <a:spcPts val="400"/>
              </a:spcAft>
            </a:pPr>
            <a:r>
              <a:rPr sz="1400" b="1" i="0">
                <a:solidFill>
                  <a:srgbClr val="1B2733"/>
                </a:solidFill>
                <a:latin typeface="Segoe UI"/>
              </a:rPr>
              <a:t>Key Vault + secrets</a:t>
            </a:r>
          </a:p>
        </p:txBody>
      </p:sp>
      <p:sp>
        <p:nvSpPr>
          <p:cNvPr id="10" name="TextBox 9"/>
          <p:cNvSpPr txBox="1"/>
          <p:nvPr/>
        </p:nvSpPr>
        <p:spPr>
          <a:xfrm>
            <a:off x="3886200" y="2167128"/>
            <a:ext cx="457200" cy="365760"/>
          </a:xfrm>
          <a:prstGeom prst="rect">
            <a:avLst/>
          </a:prstGeom>
          <a:noFill/>
        </p:spPr>
        <p:txBody>
          <a:bodyPr wrap="square" anchor="t">
            <a:spAutoFit/>
          </a:bodyPr>
          <a:lstStyle/>
          <a:p>
            <a:pPr algn="l">
              <a:lnSpc>
                <a:spcPct val="100000"/>
              </a:lnSpc>
              <a:spcBef>
                <a:spcPts val="0"/>
              </a:spcBef>
              <a:spcAft>
                <a:spcPts val="400"/>
              </a:spcAft>
            </a:pPr>
            <a:r>
              <a:rPr sz="1400" b="1" i="0">
                <a:solidFill>
                  <a:srgbClr val="FF9900"/>
                </a:solidFill>
                <a:latin typeface="Segoe UI"/>
              </a:rPr>
              <a:t>→</a:t>
            </a:r>
          </a:p>
        </p:txBody>
      </p:sp>
      <p:sp>
        <p:nvSpPr>
          <p:cNvPr id="11" name="TextBox 10"/>
          <p:cNvSpPr txBox="1"/>
          <p:nvPr/>
        </p:nvSpPr>
        <p:spPr>
          <a:xfrm>
            <a:off x="4480560" y="2167128"/>
            <a:ext cx="2743200" cy="457200"/>
          </a:xfrm>
          <a:prstGeom prst="rect">
            <a:avLst/>
          </a:prstGeom>
          <a:noFill/>
        </p:spPr>
        <p:txBody>
          <a:bodyPr wrap="square" anchor="t">
            <a:spAutoFit/>
          </a:bodyPr>
          <a:lstStyle/>
          <a:p>
            <a:pPr algn="l">
              <a:lnSpc>
                <a:spcPct val="95000"/>
              </a:lnSpc>
              <a:spcBef>
                <a:spcPts val="0"/>
              </a:spcBef>
              <a:spcAft>
                <a:spcPts val="400"/>
              </a:spcAft>
            </a:pPr>
            <a:r>
              <a:rPr sz="1400" b="0" i="0">
                <a:solidFill>
                  <a:srgbClr val="1B2733"/>
                </a:solidFill>
                <a:latin typeface="Segoe UI"/>
              </a:rPr>
              <a:t>Secrets Manager</a:t>
            </a:r>
          </a:p>
        </p:txBody>
      </p:sp>
      <p:sp>
        <p:nvSpPr>
          <p:cNvPr id="12" name="TextBox 11"/>
          <p:cNvSpPr txBox="1"/>
          <p:nvPr/>
        </p:nvSpPr>
        <p:spPr>
          <a:xfrm>
            <a:off x="7315200" y="2167128"/>
            <a:ext cx="4206240" cy="457200"/>
          </a:xfrm>
          <a:prstGeom prst="rect">
            <a:avLst/>
          </a:prstGeom>
          <a:noFill/>
        </p:spPr>
        <p:txBody>
          <a:bodyPr wrap="square" anchor="t">
            <a:spAutoFit/>
          </a:bodyPr>
          <a:lstStyle/>
          <a:p>
            <a:pPr algn="l">
              <a:lnSpc>
                <a:spcPct val="95000"/>
              </a:lnSpc>
              <a:spcBef>
                <a:spcPts val="0"/>
              </a:spcBef>
              <a:spcAft>
                <a:spcPts val="400"/>
              </a:spcAft>
            </a:pPr>
            <a:r>
              <a:rPr sz="1300" b="0" i="0">
                <a:solidFill>
                  <a:srgbClr val="5B6B7B"/>
                </a:solidFill>
                <a:latin typeface="Segoe UI"/>
              </a:rPr>
              <a:t>Vaults and secret values</a:t>
            </a:r>
          </a:p>
        </p:txBody>
      </p:sp>
      <p:sp>
        <p:nvSpPr>
          <p:cNvPr id="13" name="Rectangle 12"/>
          <p:cNvSpPr/>
          <p:nvPr/>
        </p:nvSpPr>
        <p:spPr>
          <a:xfrm>
            <a:off x="640080" y="2679191"/>
            <a:ext cx="10908792" cy="9144"/>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825496"/>
            <a:ext cx="3200400" cy="457200"/>
          </a:xfrm>
          <a:prstGeom prst="rect">
            <a:avLst/>
          </a:prstGeom>
          <a:noFill/>
        </p:spPr>
        <p:txBody>
          <a:bodyPr wrap="square" anchor="t">
            <a:spAutoFit/>
          </a:bodyPr>
          <a:lstStyle/>
          <a:p>
            <a:pPr algn="l">
              <a:lnSpc>
                <a:spcPct val="95000"/>
              </a:lnSpc>
              <a:spcBef>
                <a:spcPts val="0"/>
              </a:spcBef>
              <a:spcAft>
                <a:spcPts val="400"/>
              </a:spcAft>
            </a:pPr>
            <a:r>
              <a:rPr sz="1400" b="1" i="0">
                <a:solidFill>
                  <a:srgbClr val="1B2733"/>
                </a:solidFill>
                <a:latin typeface="Segoe UI"/>
              </a:rPr>
              <a:t>Virtual Network</a:t>
            </a:r>
          </a:p>
        </p:txBody>
      </p:sp>
      <p:sp>
        <p:nvSpPr>
          <p:cNvPr id="15" name="TextBox 14"/>
          <p:cNvSpPr txBox="1"/>
          <p:nvPr/>
        </p:nvSpPr>
        <p:spPr>
          <a:xfrm>
            <a:off x="3886200" y="2825496"/>
            <a:ext cx="457200" cy="365760"/>
          </a:xfrm>
          <a:prstGeom prst="rect">
            <a:avLst/>
          </a:prstGeom>
          <a:noFill/>
        </p:spPr>
        <p:txBody>
          <a:bodyPr wrap="square" anchor="t">
            <a:spAutoFit/>
          </a:bodyPr>
          <a:lstStyle/>
          <a:p>
            <a:pPr algn="l">
              <a:lnSpc>
                <a:spcPct val="100000"/>
              </a:lnSpc>
              <a:spcBef>
                <a:spcPts val="0"/>
              </a:spcBef>
              <a:spcAft>
                <a:spcPts val="400"/>
              </a:spcAft>
            </a:pPr>
            <a:r>
              <a:rPr sz="1400" b="1" i="0">
                <a:solidFill>
                  <a:srgbClr val="FF9900"/>
                </a:solidFill>
                <a:latin typeface="Segoe UI"/>
              </a:rPr>
              <a:t>→</a:t>
            </a:r>
          </a:p>
        </p:txBody>
      </p:sp>
      <p:sp>
        <p:nvSpPr>
          <p:cNvPr id="16" name="TextBox 15"/>
          <p:cNvSpPr txBox="1"/>
          <p:nvPr/>
        </p:nvSpPr>
        <p:spPr>
          <a:xfrm>
            <a:off x="4480560" y="2825496"/>
            <a:ext cx="2743200" cy="457200"/>
          </a:xfrm>
          <a:prstGeom prst="rect">
            <a:avLst/>
          </a:prstGeom>
          <a:noFill/>
        </p:spPr>
        <p:txBody>
          <a:bodyPr wrap="square" anchor="t">
            <a:spAutoFit/>
          </a:bodyPr>
          <a:lstStyle/>
          <a:p>
            <a:pPr algn="l">
              <a:lnSpc>
                <a:spcPct val="95000"/>
              </a:lnSpc>
              <a:spcBef>
                <a:spcPts val="0"/>
              </a:spcBef>
              <a:spcAft>
                <a:spcPts val="400"/>
              </a:spcAft>
            </a:pPr>
            <a:r>
              <a:rPr sz="1400" b="0" i="0">
                <a:solidFill>
                  <a:srgbClr val="1B2733"/>
                </a:solidFill>
                <a:latin typeface="Segoe UI"/>
              </a:rPr>
              <a:t>VPC + Subnets</a:t>
            </a:r>
          </a:p>
        </p:txBody>
      </p:sp>
      <p:sp>
        <p:nvSpPr>
          <p:cNvPr id="17" name="TextBox 16"/>
          <p:cNvSpPr txBox="1"/>
          <p:nvPr/>
        </p:nvSpPr>
        <p:spPr>
          <a:xfrm>
            <a:off x="7315200" y="2825496"/>
            <a:ext cx="4206240" cy="457200"/>
          </a:xfrm>
          <a:prstGeom prst="rect">
            <a:avLst/>
          </a:prstGeom>
          <a:noFill/>
        </p:spPr>
        <p:txBody>
          <a:bodyPr wrap="square" anchor="t">
            <a:spAutoFit/>
          </a:bodyPr>
          <a:lstStyle/>
          <a:p>
            <a:pPr algn="l">
              <a:lnSpc>
                <a:spcPct val="95000"/>
              </a:lnSpc>
              <a:spcBef>
                <a:spcPts val="0"/>
              </a:spcBef>
              <a:spcAft>
                <a:spcPts val="400"/>
              </a:spcAft>
            </a:pPr>
            <a:r>
              <a:rPr sz="1300" b="0" i="0">
                <a:solidFill>
                  <a:srgbClr val="5B6B7B"/>
                </a:solidFill>
                <a:latin typeface="Segoe UI"/>
              </a:rPr>
              <a:t>NSGs, route tables, NAT gateways, public IPs</a:t>
            </a:r>
          </a:p>
        </p:txBody>
      </p:sp>
      <p:sp>
        <p:nvSpPr>
          <p:cNvPr id="18" name="Rectangle 17"/>
          <p:cNvSpPr/>
          <p:nvPr/>
        </p:nvSpPr>
        <p:spPr>
          <a:xfrm>
            <a:off x="640080" y="3337559"/>
            <a:ext cx="10908792" cy="9144"/>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483863"/>
            <a:ext cx="3200400" cy="457200"/>
          </a:xfrm>
          <a:prstGeom prst="rect">
            <a:avLst/>
          </a:prstGeom>
          <a:noFill/>
        </p:spPr>
        <p:txBody>
          <a:bodyPr wrap="square" anchor="t">
            <a:spAutoFit/>
          </a:bodyPr>
          <a:lstStyle/>
          <a:p>
            <a:pPr algn="l">
              <a:lnSpc>
                <a:spcPct val="95000"/>
              </a:lnSpc>
              <a:spcBef>
                <a:spcPts val="0"/>
              </a:spcBef>
              <a:spcAft>
                <a:spcPts val="400"/>
              </a:spcAft>
            </a:pPr>
            <a:r>
              <a:rPr sz="1400" b="1" i="0">
                <a:solidFill>
                  <a:srgbClr val="1B2733"/>
                </a:solidFill>
                <a:latin typeface="Segoe UI"/>
              </a:rPr>
              <a:t>Azure Functions</a:t>
            </a:r>
          </a:p>
        </p:txBody>
      </p:sp>
      <p:sp>
        <p:nvSpPr>
          <p:cNvPr id="20" name="TextBox 19"/>
          <p:cNvSpPr txBox="1"/>
          <p:nvPr/>
        </p:nvSpPr>
        <p:spPr>
          <a:xfrm>
            <a:off x="3886200" y="3483863"/>
            <a:ext cx="457200" cy="365760"/>
          </a:xfrm>
          <a:prstGeom prst="rect">
            <a:avLst/>
          </a:prstGeom>
          <a:noFill/>
        </p:spPr>
        <p:txBody>
          <a:bodyPr wrap="square" anchor="t">
            <a:spAutoFit/>
          </a:bodyPr>
          <a:lstStyle/>
          <a:p>
            <a:pPr algn="l">
              <a:lnSpc>
                <a:spcPct val="100000"/>
              </a:lnSpc>
              <a:spcBef>
                <a:spcPts val="0"/>
              </a:spcBef>
              <a:spcAft>
                <a:spcPts val="400"/>
              </a:spcAft>
            </a:pPr>
            <a:r>
              <a:rPr sz="1400" b="1" i="0">
                <a:solidFill>
                  <a:srgbClr val="FF9900"/>
                </a:solidFill>
                <a:latin typeface="Segoe UI"/>
              </a:rPr>
              <a:t>→</a:t>
            </a:r>
          </a:p>
        </p:txBody>
      </p:sp>
      <p:sp>
        <p:nvSpPr>
          <p:cNvPr id="21" name="TextBox 20"/>
          <p:cNvSpPr txBox="1"/>
          <p:nvPr/>
        </p:nvSpPr>
        <p:spPr>
          <a:xfrm>
            <a:off x="4480560" y="3483863"/>
            <a:ext cx="2743200" cy="457200"/>
          </a:xfrm>
          <a:prstGeom prst="rect">
            <a:avLst/>
          </a:prstGeom>
          <a:noFill/>
        </p:spPr>
        <p:txBody>
          <a:bodyPr wrap="square" anchor="t">
            <a:spAutoFit/>
          </a:bodyPr>
          <a:lstStyle/>
          <a:p>
            <a:pPr algn="l">
              <a:lnSpc>
                <a:spcPct val="95000"/>
              </a:lnSpc>
              <a:spcBef>
                <a:spcPts val="0"/>
              </a:spcBef>
              <a:spcAft>
                <a:spcPts val="400"/>
              </a:spcAft>
            </a:pPr>
            <a:r>
              <a:rPr sz="1400" b="0" i="0">
                <a:solidFill>
                  <a:srgbClr val="1B2733"/>
                </a:solidFill>
                <a:latin typeface="Segoe UI"/>
              </a:rPr>
              <a:t>Lambda + IAM + S3</a:t>
            </a:r>
          </a:p>
        </p:txBody>
      </p:sp>
      <p:sp>
        <p:nvSpPr>
          <p:cNvPr id="22" name="TextBox 21"/>
          <p:cNvSpPr txBox="1"/>
          <p:nvPr/>
        </p:nvSpPr>
        <p:spPr>
          <a:xfrm>
            <a:off x="7315200" y="3483863"/>
            <a:ext cx="4206240" cy="457200"/>
          </a:xfrm>
          <a:prstGeom prst="rect">
            <a:avLst/>
          </a:prstGeom>
          <a:noFill/>
        </p:spPr>
        <p:txBody>
          <a:bodyPr wrap="square" anchor="t">
            <a:spAutoFit/>
          </a:bodyPr>
          <a:lstStyle/>
          <a:p>
            <a:pPr algn="l">
              <a:lnSpc>
                <a:spcPct val="95000"/>
              </a:lnSpc>
              <a:spcBef>
                <a:spcPts val="0"/>
              </a:spcBef>
              <a:spcAft>
                <a:spcPts val="400"/>
              </a:spcAft>
            </a:pPr>
            <a:r>
              <a:rPr sz="1300" b="0" i="0">
                <a:solidFill>
                  <a:srgbClr val="5B6B7B"/>
                </a:solidFill>
                <a:latin typeface="Segoe UI"/>
              </a:rPr>
              <a:t>Triggers and packaging workflows</a:t>
            </a:r>
          </a:p>
        </p:txBody>
      </p:sp>
      <p:sp>
        <p:nvSpPr>
          <p:cNvPr id="23" name="Rectangle 22"/>
          <p:cNvSpPr/>
          <p:nvPr/>
        </p:nvSpPr>
        <p:spPr>
          <a:xfrm>
            <a:off x="640080" y="3995927"/>
            <a:ext cx="10908792" cy="9144"/>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142231"/>
            <a:ext cx="3200400" cy="457200"/>
          </a:xfrm>
          <a:prstGeom prst="rect">
            <a:avLst/>
          </a:prstGeom>
          <a:noFill/>
        </p:spPr>
        <p:txBody>
          <a:bodyPr wrap="square" anchor="t">
            <a:spAutoFit/>
          </a:bodyPr>
          <a:lstStyle/>
          <a:p>
            <a:pPr algn="l">
              <a:lnSpc>
                <a:spcPct val="95000"/>
              </a:lnSpc>
              <a:spcBef>
                <a:spcPts val="0"/>
              </a:spcBef>
              <a:spcAft>
                <a:spcPts val="400"/>
              </a:spcAft>
            </a:pPr>
            <a:r>
              <a:rPr sz="1400" b="1" i="0">
                <a:solidFill>
                  <a:srgbClr val="1B2733"/>
                </a:solidFill>
                <a:latin typeface="Segoe UI"/>
              </a:rPr>
              <a:t>Blob Storage container</a:t>
            </a:r>
          </a:p>
        </p:txBody>
      </p:sp>
      <p:sp>
        <p:nvSpPr>
          <p:cNvPr id="25" name="TextBox 24"/>
          <p:cNvSpPr txBox="1"/>
          <p:nvPr/>
        </p:nvSpPr>
        <p:spPr>
          <a:xfrm>
            <a:off x="3886200" y="4142231"/>
            <a:ext cx="457200" cy="365760"/>
          </a:xfrm>
          <a:prstGeom prst="rect">
            <a:avLst/>
          </a:prstGeom>
          <a:noFill/>
        </p:spPr>
        <p:txBody>
          <a:bodyPr wrap="square" anchor="t">
            <a:spAutoFit/>
          </a:bodyPr>
          <a:lstStyle/>
          <a:p>
            <a:pPr algn="l">
              <a:lnSpc>
                <a:spcPct val="100000"/>
              </a:lnSpc>
              <a:spcBef>
                <a:spcPts val="0"/>
              </a:spcBef>
              <a:spcAft>
                <a:spcPts val="400"/>
              </a:spcAft>
            </a:pPr>
            <a:r>
              <a:rPr sz="1400" b="1" i="0">
                <a:solidFill>
                  <a:srgbClr val="FF9900"/>
                </a:solidFill>
                <a:latin typeface="Segoe UI"/>
              </a:rPr>
              <a:t>→</a:t>
            </a:r>
          </a:p>
        </p:txBody>
      </p:sp>
      <p:sp>
        <p:nvSpPr>
          <p:cNvPr id="26" name="TextBox 25"/>
          <p:cNvSpPr txBox="1"/>
          <p:nvPr/>
        </p:nvSpPr>
        <p:spPr>
          <a:xfrm>
            <a:off x="4480560" y="4142231"/>
            <a:ext cx="2743200" cy="457200"/>
          </a:xfrm>
          <a:prstGeom prst="rect">
            <a:avLst/>
          </a:prstGeom>
          <a:noFill/>
        </p:spPr>
        <p:txBody>
          <a:bodyPr wrap="square" anchor="t">
            <a:spAutoFit/>
          </a:bodyPr>
          <a:lstStyle/>
          <a:p>
            <a:pPr algn="l">
              <a:lnSpc>
                <a:spcPct val="95000"/>
              </a:lnSpc>
              <a:spcBef>
                <a:spcPts val="0"/>
              </a:spcBef>
              <a:spcAft>
                <a:spcPts val="400"/>
              </a:spcAft>
            </a:pPr>
            <a:r>
              <a:rPr sz="1400" b="0" i="0">
                <a:solidFill>
                  <a:srgbClr val="1B2733"/>
                </a:solidFill>
                <a:latin typeface="Segoe UI"/>
              </a:rPr>
              <a:t>S3 Bucket</a:t>
            </a:r>
          </a:p>
        </p:txBody>
      </p:sp>
      <p:sp>
        <p:nvSpPr>
          <p:cNvPr id="27" name="TextBox 26"/>
          <p:cNvSpPr txBox="1"/>
          <p:nvPr/>
        </p:nvSpPr>
        <p:spPr>
          <a:xfrm>
            <a:off x="7315200" y="4142231"/>
            <a:ext cx="4206240" cy="457200"/>
          </a:xfrm>
          <a:prstGeom prst="rect">
            <a:avLst/>
          </a:prstGeom>
          <a:noFill/>
        </p:spPr>
        <p:txBody>
          <a:bodyPr wrap="square" anchor="t">
            <a:spAutoFit/>
          </a:bodyPr>
          <a:lstStyle/>
          <a:p>
            <a:pPr algn="l">
              <a:lnSpc>
                <a:spcPct val="95000"/>
              </a:lnSpc>
              <a:spcBef>
                <a:spcPts val="0"/>
              </a:spcBef>
              <a:spcAft>
                <a:spcPts val="400"/>
              </a:spcAft>
            </a:pPr>
            <a:r>
              <a:rPr sz="1300" b="0" i="0">
                <a:solidFill>
                  <a:srgbClr val="5B6B7B"/>
                </a:solidFill>
                <a:latin typeface="Segoe UI"/>
              </a:rPr>
              <a:t>Standalone application blob data</a:t>
            </a:r>
          </a:p>
        </p:txBody>
      </p:sp>
      <p:sp>
        <p:nvSpPr>
          <p:cNvPr id="28" name="Rectangle 27"/>
          <p:cNvSpPr/>
          <p:nvPr/>
        </p:nvSpPr>
        <p:spPr>
          <a:xfrm>
            <a:off x="640080" y="4654295"/>
            <a:ext cx="10908792" cy="9144"/>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800599"/>
            <a:ext cx="3200400" cy="457200"/>
          </a:xfrm>
          <a:prstGeom prst="rect">
            <a:avLst/>
          </a:prstGeom>
          <a:noFill/>
        </p:spPr>
        <p:txBody>
          <a:bodyPr wrap="square" anchor="t">
            <a:spAutoFit/>
          </a:bodyPr>
          <a:lstStyle/>
          <a:p>
            <a:pPr algn="l">
              <a:lnSpc>
                <a:spcPct val="95000"/>
              </a:lnSpc>
              <a:spcBef>
                <a:spcPts val="0"/>
              </a:spcBef>
              <a:spcAft>
                <a:spcPts val="400"/>
              </a:spcAft>
            </a:pPr>
            <a:r>
              <a:rPr sz="1400" b="1" i="0">
                <a:solidFill>
                  <a:srgbClr val="1B2733"/>
                </a:solidFill>
                <a:latin typeface="Segoe UI"/>
              </a:rPr>
              <a:t>Storage Queue / Service Bus</a:t>
            </a:r>
          </a:p>
        </p:txBody>
      </p:sp>
      <p:sp>
        <p:nvSpPr>
          <p:cNvPr id="30" name="TextBox 29"/>
          <p:cNvSpPr txBox="1"/>
          <p:nvPr/>
        </p:nvSpPr>
        <p:spPr>
          <a:xfrm>
            <a:off x="3886200" y="4800599"/>
            <a:ext cx="457200" cy="365760"/>
          </a:xfrm>
          <a:prstGeom prst="rect">
            <a:avLst/>
          </a:prstGeom>
          <a:noFill/>
        </p:spPr>
        <p:txBody>
          <a:bodyPr wrap="square" anchor="t">
            <a:spAutoFit/>
          </a:bodyPr>
          <a:lstStyle/>
          <a:p>
            <a:pPr algn="l">
              <a:lnSpc>
                <a:spcPct val="100000"/>
              </a:lnSpc>
              <a:spcBef>
                <a:spcPts val="0"/>
              </a:spcBef>
              <a:spcAft>
                <a:spcPts val="400"/>
              </a:spcAft>
            </a:pPr>
            <a:r>
              <a:rPr sz="1400" b="1" i="0">
                <a:solidFill>
                  <a:srgbClr val="FF9900"/>
                </a:solidFill>
                <a:latin typeface="Segoe UI"/>
              </a:rPr>
              <a:t>→</a:t>
            </a:r>
          </a:p>
        </p:txBody>
      </p:sp>
      <p:sp>
        <p:nvSpPr>
          <p:cNvPr id="31" name="TextBox 30"/>
          <p:cNvSpPr txBox="1"/>
          <p:nvPr/>
        </p:nvSpPr>
        <p:spPr>
          <a:xfrm>
            <a:off x="4480560" y="4800599"/>
            <a:ext cx="2743200" cy="457200"/>
          </a:xfrm>
          <a:prstGeom prst="rect">
            <a:avLst/>
          </a:prstGeom>
          <a:noFill/>
        </p:spPr>
        <p:txBody>
          <a:bodyPr wrap="square" anchor="t">
            <a:spAutoFit/>
          </a:bodyPr>
          <a:lstStyle/>
          <a:p>
            <a:pPr algn="l">
              <a:lnSpc>
                <a:spcPct val="95000"/>
              </a:lnSpc>
              <a:spcBef>
                <a:spcPts val="0"/>
              </a:spcBef>
              <a:spcAft>
                <a:spcPts val="400"/>
              </a:spcAft>
            </a:pPr>
            <a:r>
              <a:rPr sz="1400" b="0" i="0">
                <a:solidFill>
                  <a:srgbClr val="1B2733"/>
                </a:solidFill>
                <a:latin typeface="Segoe UI"/>
              </a:rPr>
              <a:t>SQS / SNS</a:t>
            </a:r>
          </a:p>
        </p:txBody>
      </p:sp>
      <p:sp>
        <p:nvSpPr>
          <p:cNvPr id="32" name="TextBox 31"/>
          <p:cNvSpPr txBox="1"/>
          <p:nvPr/>
        </p:nvSpPr>
        <p:spPr>
          <a:xfrm>
            <a:off x="7315200" y="4800599"/>
            <a:ext cx="4206240" cy="457200"/>
          </a:xfrm>
          <a:prstGeom prst="rect">
            <a:avLst/>
          </a:prstGeom>
          <a:noFill/>
        </p:spPr>
        <p:txBody>
          <a:bodyPr wrap="square" anchor="t">
            <a:spAutoFit/>
          </a:bodyPr>
          <a:lstStyle/>
          <a:p>
            <a:pPr algn="l">
              <a:lnSpc>
                <a:spcPct val="95000"/>
              </a:lnSpc>
              <a:spcBef>
                <a:spcPts val="0"/>
              </a:spcBef>
              <a:spcAft>
                <a:spcPts val="400"/>
              </a:spcAft>
            </a:pPr>
            <a:r>
              <a:rPr sz="1300" b="0" i="0">
                <a:solidFill>
                  <a:srgbClr val="5B6B7B"/>
                </a:solidFill>
                <a:latin typeface="Segoe UI"/>
              </a:rPr>
              <a:t>Queues, topics, subscriptions</a:t>
            </a:r>
          </a:p>
        </p:txBody>
      </p:sp>
      <p:sp>
        <p:nvSpPr>
          <p:cNvPr id="33" name="Rectangle 32"/>
          <p:cNvSpPr/>
          <p:nvPr/>
        </p:nvSpPr>
        <p:spPr>
          <a:xfrm>
            <a:off x="640080" y="5312663"/>
            <a:ext cx="10908792" cy="9144"/>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623560"/>
            <a:ext cx="10881360" cy="548640"/>
          </a:xfrm>
          <a:prstGeom prst="rect">
            <a:avLst/>
          </a:prstGeom>
          <a:noFill/>
        </p:spPr>
        <p:txBody>
          <a:bodyPr wrap="square" anchor="t">
            <a:spAutoFit/>
          </a:bodyPr>
          <a:lstStyle/>
          <a:p>
            <a:pPr algn="l">
              <a:lnSpc>
                <a:spcPct val="110000"/>
              </a:lnSpc>
              <a:spcBef>
                <a:spcPts val="0"/>
              </a:spcBef>
              <a:spcAft>
                <a:spcPts val="400"/>
              </a:spcAft>
            </a:pPr>
            <a:r>
              <a:rPr sz="1400" b="0" i="0">
                <a:solidFill>
                  <a:srgbClr val="5B6B7B"/>
                </a:solidFill>
                <a:latin typeface="Segoe UI"/>
              </a:rPr>
              <a:t>Coverage is intentionally growing. New resource families are added incrementally by authoring a mapping doc and registering it in the knowledge base index.</a:t>
            </a:r>
          </a:p>
        </p:txBody>
      </p:sp>
      <p:sp>
        <p:nvSpPr>
          <p:cNvPr id="35" name="Rectangle 34"/>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37" name="TextBox 36"/>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12 · Coverage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EVALUATION &amp; CALIBRATION</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Measuring quality and reliability</a:t>
            </a:r>
          </a:p>
        </p:txBody>
      </p:sp>
      <p:sp>
        <p:nvSpPr>
          <p:cNvPr id="5" name="TextBox 4"/>
          <p:cNvSpPr txBox="1"/>
          <p:nvPr/>
        </p:nvSpPr>
        <p:spPr>
          <a:xfrm>
            <a:off x="640080" y="1645920"/>
            <a:ext cx="5394960" cy="365760"/>
          </a:xfrm>
          <a:prstGeom prst="rect">
            <a:avLst/>
          </a:prstGeom>
          <a:noFill/>
        </p:spPr>
        <p:txBody>
          <a:bodyPr wrap="square" anchor="t">
            <a:spAutoFit/>
          </a:bodyPr>
          <a:lstStyle/>
          <a:p>
            <a:pPr algn="l">
              <a:lnSpc>
                <a:spcPct val="100000"/>
              </a:lnSpc>
              <a:spcBef>
                <a:spcPts val="0"/>
              </a:spcBef>
              <a:spcAft>
                <a:spcPts val="400"/>
              </a:spcAft>
            </a:pPr>
            <a:r>
              <a:rPr sz="1600" b="1" i="0">
                <a:solidFill>
                  <a:srgbClr val="0078D4"/>
                </a:solidFill>
                <a:latin typeface="Segoe UI"/>
              </a:rPr>
              <a:t>Benchmark harness</a:t>
            </a:r>
          </a:p>
        </p:txBody>
      </p:sp>
      <p:sp>
        <p:nvSpPr>
          <p:cNvPr id="6" name="TextBox 5"/>
          <p:cNvSpPr txBox="1"/>
          <p:nvPr/>
        </p:nvSpPr>
        <p:spPr>
          <a:xfrm>
            <a:off x="640080" y="2103120"/>
            <a:ext cx="5394960" cy="2743200"/>
          </a:xfrm>
          <a:prstGeom prst="rect">
            <a:avLst/>
          </a:prstGeom>
          <a:noFill/>
        </p:spPr>
        <p:txBody>
          <a:bodyPr wrap="square" anchor="t">
            <a:spAutoFit/>
          </a:bodyPr>
          <a:lstStyle/>
          <a:p>
            <a:pPr algn="l">
              <a:lnSpc>
                <a:spcPct val="105000"/>
              </a:lnSpc>
              <a:spcBef>
                <a:spcPts val="0"/>
              </a:spcBef>
              <a:spcAft>
                <a:spcPts val="900"/>
              </a:spcAft>
            </a:pPr>
            <a:r>
              <a:rPr sz="1400" b="1" i="0">
                <a:solidFill>
                  <a:srgbClr val="0078D4"/>
                </a:solidFill>
                <a:latin typeface="Segoe UI"/>
              </a:rPr>
              <a:t>•  </a:t>
            </a:r>
            <a:r>
              <a:rPr sz="1400" b="0" i="0">
                <a:solidFill>
                  <a:srgbClr val="1B2733"/>
                </a:solidFill>
                <a:latin typeface="Segoe UI"/>
              </a:rPr>
              <a:t>Curated reference examples with human-reviewed expectations.</a:t>
            </a:r>
          </a:p>
          <a:p>
            <a:pPr algn="l">
              <a:lnSpc>
                <a:spcPct val="105000"/>
              </a:lnSpc>
              <a:spcBef>
                <a:spcPts val="0"/>
              </a:spcBef>
              <a:spcAft>
                <a:spcPts val="900"/>
              </a:spcAft>
            </a:pPr>
            <a:r>
              <a:rPr sz="1400" b="1" i="0">
                <a:solidFill>
                  <a:srgbClr val="0078D4"/>
                </a:solidFill>
                <a:latin typeface="Segoe UI"/>
              </a:rPr>
              <a:t>•  </a:t>
            </a:r>
            <a:r>
              <a:rPr sz="1400" b="0" i="0">
                <a:solidFill>
                  <a:srgbClr val="1B2733"/>
                </a:solidFill>
                <a:latin typeface="Segoe UI"/>
              </a:rPr>
              <a:t>Scores the LLM step: plan validity, parameter hygiene, resource-type accuracy, retrieval quality.</a:t>
            </a:r>
          </a:p>
          <a:p>
            <a:pPr algn="l">
              <a:lnSpc>
                <a:spcPct val="105000"/>
              </a:lnSpc>
              <a:spcBef>
                <a:spcPts val="0"/>
              </a:spcBef>
              <a:spcAft>
                <a:spcPts val="900"/>
              </a:spcAft>
            </a:pPr>
            <a:r>
              <a:rPr sz="1400" b="1" i="0">
                <a:solidFill>
                  <a:srgbClr val="0078D4"/>
                </a:solidFill>
                <a:latin typeface="Segoe UI"/>
              </a:rPr>
              <a:t>•  </a:t>
            </a:r>
            <a:r>
              <a:rPr sz="1400" b="0" i="0">
                <a:solidFill>
                  <a:srgbClr val="1B2733"/>
                </a:solidFill>
                <a:latin typeface="Segoe UI"/>
              </a:rPr>
              <a:t>Runs a trimmed pipeline (Agents 1–5) that never deploys — safe for CI-style checks.</a:t>
            </a:r>
          </a:p>
          <a:p>
            <a:pPr algn="l">
              <a:lnSpc>
                <a:spcPct val="105000"/>
              </a:lnSpc>
              <a:spcBef>
                <a:spcPts val="0"/>
              </a:spcBef>
              <a:spcAft>
                <a:spcPts val="900"/>
              </a:spcAft>
            </a:pPr>
            <a:r>
              <a:rPr sz="1400" b="1" i="0">
                <a:solidFill>
                  <a:srgbClr val="0078D4"/>
                </a:solidFill>
                <a:latin typeface="Segoe UI"/>
              </a:rPr>
              <a:t>•  </a:t>
            </a:r>
            <a:r>
              <a:rPr sz="1400" b="0" i="0">
                <a:solidFill>
                  <a:srgbClr val="1B2733"/>
                </a:solidFill>
                <a:latin typeface="Segoe UI"/>
              </a:rPr>
              <a:t>Supports prompt-version comparison to tune the reasoning step.</a:t>
            </a:r>
          </a:p>
        </p:txBody>
      </p:sp>
      <p:sp>
        <p:nvSpPr>
          <p:cNvPr id="7" name="TextBox 6"/>
          <p:cNvSpPr txBox="1"/>
          <p:nvPr/>
        </p:nvSpPr>
        <p:spPr>
          <a:xfrm>
            <a:off x="6263640" y="1645920"/>
            <a:ext cx="5257800" cy="365760"/>
          </a:xfrm>
          <a:prstGeom prst="rect">
            <a:avLst/>
          </a:prstGeom>
          <a:noFill/>
        </p:spPr>
        <p:txBody>
          <a:bodyPr wrap="square" anchor="t">
            <a:spAutoFit/>
          </a:bodyPr>
          <a:lstStyle/>
          <a:p>
            <a:pPr algn="l">
              <a:lnSpc>
                <a:spcPct val="100000"/>
              </a:lnSpc>
              <a:spcBef>
                <a:spcPts val="0"/>
              </a:spcBef>
              <a:spcAft>
                <a:spcPts val="400"/>
              </a:spcAft>
            </a:pPr>
            <a:r>
              <a:rPr sz="1600" b="1" i="0">
                <a:solidFill>
                  <a:srgbClr val="0078D4"/>
                </a:solidFill>
                <a:latin typeface="Segoe UI"/>
              </a:rPr>
              <a:t>Run-history calibration</a:t>
            </a:r>
          </a:p>
        </p:txBody>
      </p:sp>
      <p:sp>
        <p:nvSpPr>
          <p:cNvPr id="8" name="TextBox 7"/>
          <p:cNvSpPr txBox="1"/>
          <p:nvPr/>
        </p:nvSpPr>
        <p:spPr>
          <a:xfrm>
            <a:off x="6263640" y="2103120"/>
            <a:ext cx="5257800" cy="2743200"/>
          </a:xfrm>
          <a:prstGeom prst="rect">
            <a:avLst/>
          </a:prstGeom>
          <a:noFill/>
        </p:spPr>
        <p:txBody>
          <a:bodyPr wrap="square" anchor="t">
            <a:spAutoFit/>
          </a:bodyPr>
          <a:lstStyle/>
          <a:p>
            <a:pPr algn="l">
              <a:lnSpc>
                <a:spcPct val="105000"/>
              </a:lnSpc>
              <a:spcBef>
                <a:spcPts val="0"/>
              </a:spcBef>
              <a:spcAft>
                <a:spcPts val="900"/>
              </a:spcAft>
            </a:pPr>
            <a:r>
              <a:rPr sz="1400" b="1" i="0">
                <a:solidFill>
                  <a:srgbClr val="0078D4"/>
                </a:solidFill>
                <a:latin typeface="Segoe UI"/>
              </a:rPr>
              <a:t>•  </a:t>
            </a:r>
            <a:r>
              <a:rPr sz="1400" b="0" i="0">
                <a:solidFill>
                  <a:srgbClr val="1B2733"/>
                </a:solidFill>
                <a:latin typeface="Segoe UI"/>
              </a:rPr>
              <a:t>Every real run appends its outcome to a history log.</a:t>
            </a:r>
          </a:p>
          <a:p>
            <a:pPr algn="l">
              <a:lnSpc>
                <a:spcPct val="105000"/>
              </a:lnSpc>
              <a:spcBef>
                <a:spcPts val="0"/>
              </a:spcBef>
              <a:spcAft>
                <a:spcPts val="900"/>
              </a:spcAft>
            </a:pPr>
            <a:r>
              <a:rPr sz="1400" b="1" i="0">
                <a:solidFill>
                  <a:srgbClr val="0078D4"/>
                </a:solidFill>
                <a:latin typeface="Segoe UI"/>
              </a:rPr>
              <a:t>•  </a:t>
            </a:r>
            <a:r>
              <a:rPr sz="1400" b="0" i="0">
                <a:solidFill>
                  <a:srgbClr val="1B2733"/>
                </a:solidFill>
                <a:latin typeface="Segoe UI"/>
              </a:rPr>
              <a:t>Aggregate metrics: pass rate, human-intervention rate, deploy success rate.</a:t>
            </a:r>
          </a:p>
          <a:p>
            <a:pPr algn="l">
              <a:lnSpc>
                <a:spcPct val="105000"/>
              </a:lnSpc>
              <a:spcBef>
                <a:spcPts val="0"/>
              </a:spcBef>
              <a:spcAft>
                <a:spcPts val="900"/>
              </a:spcAft>
            </a:pPr>
            <a:r>
              <a:rPr sz="1400" b="1" i="0">
                <a:solidFill>
                  <a:srgbClr val="0078D4"/>
                </a:solidFill>
                <a:latin typeface="Segoe UI"/>
              </a:rPr>
              <a:t>•  </a:t>
            </a:r>
            <a:r>
              <a:rPr sz="1400" b="0" i="0">
                <a:solidFill>
                  <a:srgbClr val="1B2733"/>
                </a:solidFill>
                <a:latin typeface="Segoe UI"/>
              </a:rPr>
              <a:t>Timing and </a:t>
            </a:r>
            <a:r>
              <a:rPr sz="1400" b="1" i="0">
                <a:solidFill>
                  <a:srgbClr val="1B2733"/>
                </a:solidFill>
                <a:latin typeface="Segoe UI"/>
              </a:rPr>
              <a:t>Brier score</a:t>
            </a:r>
            <a:r>
              <a:rPr sz="1400" b="0" i="0">
                <a:solidFill>
                  <a:srgbClr val="1B2733"/>
                </a:solidFill>
                <a:latin typeface="Segoe UI"/>
              </a:rPr>
              <a:t> track reliability over time.</a:t>
            </a:r>
          </a:p>
          <a:p>
            <a:pPr algn="l">
              <a:lnSpc>
                <a:spcPct val="105000"/>
              </a:lnSpc>
              <a:spcBef>
                <a:spcPts val="0"/>
              </a:spcBef>
              <a:spcAft>
                <a:spcPts val="900"/>
              </a:spcAft>
            </a:pPr>
            <a:r>
              <a:rPr sz="1400" b="1" i="0">
                <a:solidFill>
                  <a:srgbClr val="0078D4"/>
                </a:solidFill>
                <a:latin typeface="Segoe UI"/>
              </a:rPr>
              <a:t>•  </a:t>
            </a:r>
            <a:r>
              <a:rPr sz="1400" b="0" i="0">
                <a:solidFill>
                  <a:srgbClr val="1B2733"/>
                </a:solidFill>
                <a:latin typeface="Segoe UI"/>
              </a:rPr>
              <a:t>A calibration report is regenerated after each run.</a:t>
            </a:r>
          </a:p>
        </p:txBody>
      </p:sp>
      <p:sp>
        <p:nvSpPr>
          <p:cNvPr id="9" name="Rounded Rectangle 8"/>
          <p:cNvSpPr/>
          <p:nvPr/>
        </p:nvSpPr>
        <p:spPr>
          <a:xfrm>
            <a:off x="640080" y="5120640"/>
            <a:ext cx="10899648" cy="82296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303520"/>
            <a:ext cx="10424160" cy="548640"/>
          </a:xfrm>
          <a:prstGeom prst="rect">
            <a:avLst/>
          </a:prstGeom>
          <a:noFill/>
        </p:spPr>
        <p:txBody>
          <a:bodyPr wrap="square" anchor="t">
            <a:spAutoFit/>
          </a:bodyPr>
          <a:lstStyle/>
          <a:p>
            <a:pPr algn="l">
              <a:lnSpc>
                <a:spcPct val="110000"/>
              </a:lnSpc>
              <a:spcBef>
                <a:spcPts val="0"/>
              </a:spcBef>
              <a:spcAft>
                <a:spcPts val="400"/>
              </a:spcAft>
            </a:pPr>
            <a:r>
              <a:rPr sz="1450" b="0" i="0">
                <a:solidFill>
                  <a:srgbClr val="5B6B7B"/>
                </a:solidFill>
                <a:latin typeface="Segoe UI"/>
              </a:rPr>
              <a:t>This two-layer approach separates </a:t>
            </a:r>
            <a:r>
              <a:rPr sz="1450" b="1" i="0">
                <a:solidFill>
                  <a:srgbClr val="1B2733"/>
                </a:solidFill>
                <a:latin typeface="Segoe UI"/>
              </a:rPr>
              <a:t>prompt quality</a:t>
            </a:r>
            <a:r>
              <a:rPr sz="1450" b="0" i="0">
                <a:solidFill>
                  <a:srgbClr val="5B6B7B"/>
                </a:solidFill>
                <a:latin typeface="Segoe UI"/>
              </a:rPr>
              <a:t> from </a:t>
            </a:r>
            <a:r>
              <a:rPr sz="1450" b="1" i="0">
                <a:solidFill>
                  <a:srgbClr val="1B2733"/>
                </a:solidFill>
                <a:latin typeface="Segoe UI"/>
              </a:rPr>
              <a:t>operational reliability</a:t>
            </a:r>
            <a:r>
              <a:rPr sz="1450" b="0" i="0">
                <a:solidFill>
                  <a:srgbClr val="5B6B7B"/>
                </a:solidFill>
                <a:latin typeface="Segoe UI"/>
              </a:rPr>
              <a:t> — important for a portfolio-grade capstone.</a:t>
            </a:r>
          </a:p>
        </p:txBody>
      </p:sp>
      <p:sp>
        <p:nvSpPr>
          <p:cNvPr id="11" name="Rectangle 10"/>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13" name="TextBox 12"/>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13 · Evaluation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TECHNOLOGY</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Built on a focused, modern stack</a:t>
            </a:r>
          </a:p>
        </p:txBody>
      </p:sp>
      <p:sp>
        <p:nvSpPr>
          <p:cNvPr id="5" name="Rounded Rectangle 4"/>
          <p:cNvSpPr/>
          <p:nvPr/>
        </p:nvSpPr>
        <p:spPr>
          <a:xfrm>
            <a:off x="640080" y="1691640"/>
            <a:ext cx="2624328" cy="150876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856232"/>
            <a:ext cx="2258568" cy="365760"/>
          </a:xfrm>
          <a:prstGeom prst="rect">
            <a:avLst/>
          </a:prstGeom>
          <a:noFill/>
        </p:spPr>
        <p:txBody>
          <a:bodyPr wrap="square" anchor="t">
            <a:spAutoFit/>
          </a:bodyPr>
          <a:lstStyle/>
          <a:p>
            <a:pPr algn="l">
              <a:lnSpc>
                <a:spcPct val="100000"/>
              </a:lnSpc>
              <a:spcBef>
                <a:spcPts val="0"/>
              </a:spcBef>
              <a:spcAft>
                <a:spcPts val="400"/>
              </a:spcAft>
            </a:pPr>
            <a:r>
              <a:rPr sz="1500" b="1" i="0">
                <a:solidFill>
                  <a:srgbClr val="0078D4"/>
                </a:solidFill>
                <a:latin typeface="Segoe UI"/>
              </a:rPr>
              <a:t>LangGraph</a:t>
            </a:r>
          </a:p>
        </p:txBody>
      </p:sp>
      <p:sp>
        <p:nvSpPr>
          <p:cNvPr id="7" name="TextBox 6"/>
          <p:cNvSpPr txBox="1"/>
          <p:nvPr/>
        </p:nvSpPr>
        <p:spPr>
          <a:xfrm>
            <a:off x="822959" y="2258568"/>
            <a:ext cx="2258568" cy="822960"/>
          </a:xfrm>
          <a:prstGeom prst="rect">
            <a:avLst/>
          </a:prstGeom>
          <a:noFill/>
        </p:spPr>
        <p:txBody>
          <a:bodyPr wrap="square" anchor="t">
            <a:spAutoFit/>
          </a:bodyPr>
          <a:lstStyle/>
          <a:p>
            <a:pPr algn="l">
              <a:lnSpc>
                <a:spcPct val="103000"/>
              </a:lnSpc>
              <a:spcBef>
                <a:spcPts val="0"/>
              </a:spcBef>
              <a:spcAft>
                <a:spcPts val="400"/>
              </a:spcAft>
            </a:pPr>
            <a:r>
              <a:rPr sz="1200" b="0" i="0">
                <a:solidFill>
                  <a:srgbClr val="5B6B7B"/>
                </a:solidFill>
                <a:latin typeface="Segoe UI"/>
              </a:rPr>
              <a:t>State-graph orchestration with human-in-the-loop interrupts.</a:t>
            </a:r>
          </a:p>
        </p:txBody>
      </p:sp>
      <p:sp>
        <p:nvSpPr>
          <p:cNvPr id="8" name="Rounded Rectangle 7"/>
          <p:cNvSpPr/>
          <p:nvPr/>
        </p:nvSpPr>
        <p:spPr>
          <a:xfrm>
            <a:off x="3374136" y="1691640"/>
            <a:ext cx="2624328" cy="150876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57016" y="1856232"/>
            <a:ext cx="2258568" cy="365760"/>
          </a:xfrm>
          <a:prstGeom prst="rect">
            <a:avLst/>
          </a:prstGeom>
          <a:noFill/>
        </p:spPr>
        <p:txBody>
          <a:bodyPr wrap="square" anchor="t">
            <a:spAutoFit/>
          </a:bodyPr>
          <a:lstStyle/>
          <a:p>
            <a:pPr algn="l">
              <a:lnSpc>
                <a:spcPct val="100000"/>
              </a:lnSpc>
              <a:spcBef>
                <a:spcPts val="0"/>
              </a:spcBef>
              <a:spcAft>
                <a:spcPts val="400"/>
              </a:spcAft>
            </a:pPr>
            <a:r>
              <a:rPr sz="1500" b="1" i="0">
                <a:solidFill>
                  <a:srgbClr val="0078D4"/>
                </a:solidFill>
                <a:latin typeface="Segoe UI"/>
              </a:rPr>
              <a:t>AWS Bedrock</a:t>
            </a:r>
          </a:p>
        </p:txBody>
      </p:sp>
      <p:sp>
        <p:nvSpPr>
          <p:cNvPr id="10" name="TextBox 9"/>
          <p:cNvSpPr txBox="1"/>
          <p:nvPr/>
        </p:nvSpPr>
        <p:spPr>
          <a:xfrm>
            <a:off x="3557016" y="2258568"/>
            <a:ext cx="2258568" cy="822960"/>
          </a:xfrm>
          <a:prstGeom prst="rect">
            <a:avLst/>
          </a:prstGeom>
          <a:noFill/>
        </p:spPr>
        <p:txBody>
          <a:bodyPr wrap="square" anchor="t">
            <a:spAutoFit/>
          </a:bodyPr>
          <a:lstStyle/>
          <a:p>
            <a:pPr algn="l">
              <a:lnSpc>
                <a:spcPct val="103000"/>
              </a:lnSpc>
              <a:spcBef>
                <a:spcPts val="0"/>
              </a:spcBef>
              <a:spcAft>
                <a:spcPts val="400"/>
              </a:spcAft>
            </a:pPr>
            <a:r>
              <a:rPr sz="1200" b="0" i="0">
                <a:solidFill>
                  <a:srgbClr val="5B6B7B"/>
                </a:solidFill>
                <a:latin typeface="Segoe UI"/>
              </a:rPr>
              <a:t>The single LLM reasoning step that produces the migration plan.</a:t>
            </a:r>
          </a:p>
        </p:txBody>
      </p:sp>
      <p:sp>
        <p:nvSpPr>
          <p:cNvPr id="11" name="Rounded Rectangle 10"/>
          <p:cNvSpPr/>
          <p:nvPr/>
        </p:nvSpPr>
        <p:spPr>
          <a:xfrm>
            <a:off x="6108192" y="1691640"/>
            <a:ext cx="2624328" cy="150876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1072" y="1856232"/>
            <a:ext cx="2258568" cy="365760"/>
          </a:xfrm>
          <a:prstGeom prst="rect">
            <a:avLst/>
          </a:prstGeom>
          <a:noFill/>
        </p:spPr>
        <p:txBody>
          <a:bodyPr wrap="square" anchor="t">
            <a:spAutoFit/>
          </a:bodyPr>
          <a:lstStyle/>
          <a:p>
            <a:pPr algn="l">
              <a:lnSpc>
                <a:spcPct val="100000"/>
              </a:lnSpc>
              <a:spcBef>
                <a:spcPts val="0"/>
              </a:spcBef>
              <a:spcAft>
                <a:spcPts val="400"/>
              </a:spcAft>
            </a:pPr>
            <a:r>
              <a:rPr sz="1500" b="1" i="0">
                <a:solidFill>
                  <a:srgbClr val="0078D4"/>
                </a:solidFill>
                <a:latin typeface="Segoe UI"/>
              </a:rPr>
              <a:t>boto3</a:t>
            </a:r>
          </a:p>
        </p:txBody>
      </p:sp>
      <p:sp>
        <p:nvSpPr>
          <p:cNvPr id="13" name="TextBox 12"/>
          <p:cNvSpPr txBox="1"/>
          <p:nvPr/>
        </p:nvSpPr>
        <p:spPr>
          <a:xfrm>
            <a:off x="6291072" y="2258568"/>
            <a:ext cx="2258568" cy="822960"/>
          </a:xfrm>
          <a:prstGeom prst="rect">
            <a:avLst/>
          </a:prstGeom>
          <a:noFill/>
        </p:spPr>
        <p:txBody>
          <a:bodyPr wrap="square" anchor="t">
            <a:spAutoFit/>
          </a:bodyPr>
          <a:lstStyle/>
          <a:p>
            <a:pPr algn="l">
              <a:lnSpc>
                <a:spcPct val="103000"/>
              </a:lnSpc>
              <a:spcBef>
                <a:spcPts val="0"/>
              </a:spcBef>
              <a:spcAft>
                <a:spcPts val="400"/>
              </a:spcAft>
            </a:pPr>
            <a:r>
              <a:rPr sz="1200" b="0" i="0">
                <a:solidFill>
                  <a:srgbClr val="5B6B7B"/>
                </a:solidFill>
                <a:latin typeface="Segoe UI"/>
              </a:rPr>
              <a:t>Real CloudFormation deploy and post-deploy verification.</a:t>
            </a:r>
          </a:p>
        </p:txBody>
      </p:sp>
      <p:sp>
        <p:nvSpPr>
          <p:cNvPr id="14" name="Rounded Rectangle 13"/>
          <p:cNvSpPr/>
          <p:nvPr/>
        </p:nvSpPr>
        <p:spPr>
          <a:xfrm>
            <a:off x="8842248" y="1691640"/>
            <a:ext cx="2624328" cy="150876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25128" y="1856232"/>
            <a:ext cx="2258568" cy="365760"/>
          </a:xfrm>
          <a:prstGeom prst="rect">
            <a:avLst/>
          </a:prstGeom>
          <a:noFill/>
        </p:spPr>
        <p:txBody>
          <a:bodyPr wrap="square" anchor="t">
            <a:spAutoFit/>
          </a:bodyPr>
          <a:lstStyle/>
          <a:p>
            <a:pPr algn="l">
              <a:lnSpc>
                <a:spcPct val="100000"/>
              </a:lnSpc>
              <a:spcBef>
                <a:spcPts val="0"/>
              </a:spcBef>
              <a:spcAft>
                <a:spcPts val="400"/>
              </a:spcAft>
            </a:pPr>
            <a:r>
              <a:rPr sz="1500" b="1" i="0">
                <a:solidFill>
                  <a:srgbClr val="0078D4"/>
                </a:solidFill>
                <a:latin typeface="Segoe UI"/>
              </a:rPr>
              <a:t>cfn-lint</a:t>
            </a:r>
          </a:p>
        </p:txBody>
      </p:sp>
      <p:sp>
        <p:nvSpPr>
          <p:cNvPr id="16" name="TextBox 15"/>
          <p:cNvSpPr txBox="1"/>
          <p:nvPr/>
        </p:nvSpPr>
        <p:spPr>
          <a:xfrm>
            <a:off x="9025128" y="2258568"/>
            <a:ext cx="2258568" cy="822960"/>
          </a:xfrm>
          <a:prstGeom prst="rect">
            <a:avLst/>
          </a:prstGeom>
          <a:noFill/>
        </p:spPr>
        <p:txBody>
          <a:bodyPr wrap="square" anchor="t">
            <a:spAutoFit/>
          </a:bodyPr>
          <a:lstStyle/>
          <a:p>
            <a:pPr algn="l">
              <a:lnSpc>
                <a:spcPct val="103000"/>
              </a:lnSpc>
              <a:spcBef>
                <a:spcPts val="0"/>
              </a:spcBef>
              <a:spcAft>
                <a:spcPts val="400"/>
              </a:spcAft>
            </a:pPr>
            <a:r>
              <a:rPr sz="1200" b="0" i="0">
                <a:solidFill>
                  <a:srgbClr val="5B6B7B"/>
                </a:solidFill>
                <a:latin typeface="Segoe UI"/>
              </a:rPr>
              <a:t>Deterministic template validation with a self-correction loop.</a:t>
            </a:r>
          </a:p>
        </p:txBody>
      </p:sp>
      <p:sp>
        <p:nvSpPr>
          <p:cNvPr id="17" name="Rounded Rectangle 16"/>
          <p:cNvSpPr/>
          <p:nvPr/>
        </p:nvSpPr>
        <p:spPr>
          <a:xfrm>
            <a:off x="640080" y="3364991"/>
            <a:ext cx="2624328" cy="150876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529584"/>
            <a:ext cx="2258568" cy="365760"/>
          </a:xfrm>
          <a:prstGeom prst="rect">
            <a:avLst/>
          </a:prstGeom>
          <a:noFill/>
        </p:spPr>
        <p:txBody>
          <a:bodyPr wrap="square" anchor="t">
            <a:spAutoFit/>
          </a:bodyPr>
          <a:lstStyle/>
          <a:p>
            <a:pPr algn="l">
              <a:lnSpc>
                <a:spcPct val="100000"/>
              </a:lnSpc>
              <a:spcBef>
                <a:spcPts val="0"/>
              </a:spcBef>
              <a:spcAft>
                <a:spcPts val="400"/>
              </a:spcAft>
            </a:pPr>
            <a:r>
              <a:rPr sz="1500" b="1" i="0">
                <a:solidFill>
                  <a:srgbClr val="0078D4"/>
                </a:solidFill>
                <a:latin typeface="Segoe UI"/>
              </a:rPr>
              <a:t>checkov</a:t>
            </a:r>
          </a:p>
        </p:txBody>
      </p:sp>
      <p:sp>
        <p:nvSpPr>
          <p:cNvPr id="19" name="TextBox 18"/>
          <p:cNvSpPr txBox="1"/>
          <p:nvPr/>
        </p:nvSpPr>
        <p:spPr>
          <a:xfrm>
            <a:off x="822959" y="3931920"/>
            <a:ext cx="2258568" cy="822960"/>
          </a:xfrm>
          <a:prstGeom prst="rect">
            <a:avLst/>
          </a:prstGeom>
          <a:noFill/>
        </p:spPr>
        <p:txBody>
          <a:bodyPr wrap="square" anchor="t">
            <a:spAutoFit/>
          </a:bodyPr>
          <a:lstStyle/>
          <a:p>
            <a:pPr algn="l">
              <a:lnSpc>
                <a:spcPct val="103000"/>
              </a:lnSpc>
              <a:spcBef>
                <a:spcPts val="0"/>
              </a:spcBef>
              <a:spcAft>
                <a:spcPts val="400"/>
              </a:spcAft>
            </a:pPr>
            <a:r>
              <a:rPr sz="1200" b="0" i="0">
                <a:solidFill>
                  <a:srgbClr val="5B6B7B"/>
                </a:solidFill>
                <a:latin typeface="Segoe UI"/>
              </a:rPr>
              <a:t>Security policy scanning of the rendered template.</a:t>
            </a:r>
          </a:p>
        </p:txBody>
      </p:sp>
      <p:sp>
        <p:nvSpPr>
          <p:cNvPr id="20" name="Rounded Rectangle 19"/>
          <p:cNvSpPr/>
          <p:nvPr/>
        </p:nvSpPr>
        <p:spPr>
          <a:xfrm>
            <a:off x="3374136" y="3364991"/>
            <a:ext cx="2624328" cy="150876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57016" y="3529584"/>
            <a:ext cx="2258568" cy="365760"/>
          </a:xfrm>
          <a:prstGeom prst="rect">
            <a:avLst/>
          </a:prstGeom>
          <a:noFill/>
        </p:spPr>
        <p:txBody>
          <a:bodyPr wrap="square" anchor="t">
            <a:spAutoFit/>
          </a:bodyPr>
          <a:lstStyle/>
          <a:p>
            <a:pPr algn="l">
              <a:lnSpc>
                <a:spcPct val="100000"/>
              </a:lnSpc>
              <a:spcBef>
                <a:spcPts val="0"/>
              </a:spcBef>
              <a:spcAft>
                <a:spcPts val="400"/>
              </a:spcAft>
            </a:pPr>
            <a:r>
              <a:rPr sz="1500" b="1" i="0">
                <a:solidFill>
                  <a:srgbClr val="0078D4"/>
                </a:solidFill>
                <a:latin typeface="Segoe UI"/>
              </a:rPr>
              <a:t>Chroma + BM25</a:t>
            </a:r>
          </a:p>
        </p:txBody>
      </p:sp>
      <p:sp>
        <p:nvSpPr>
          <p:cNvPr id="22" name="TextBox 21"/>
          <p:cNvSpPr txBox="1"/>
          <p:nvPr/>
        </p:nvSpPr>
        <p:spPr>
          <a:xfrm>
            <a:off x="3557016" y="3931920"/>
            <a:ext cx="2258568" cy="822960"/>
          </a:xfrm>
          <a:prstGeom prst="rect">
            <a:avLst/>
          </a:prstGeom>
          <a:noFill/>
        </p:spPr>
        <p:txBody>
          <a:bodyPr wrap="square" anchor="t">
            <a:spAutoFit/>
          </a:bodyPr>
          <a:lstStyle/>
          <a:p>
            <a:pPr algn="l">
              <a:lnSpc>
                <a:spcPct val="103000"/>
              </a:lnSpc>
              <a:spcBef>
                <a:spcPts val="0"/>
              </a:spcBef>
              <a:spcAft>
                <a:spcPts val="400"/>
              </a:spcAft>
            </a:pPr>
            <a:r>
              <a:rPr sz="1200" b="0" i="0">
                <a:solidFill>
                  <a:srgbClr val="5B6B7B"/>
                </a:solidFill>
                <a:latin typeface="Segoe UI"/>
              </a:rPr>
              <a:t>Hybrid retrieval over the knowledge base.</a:t>
            </a:r>
          </a:p>
        </p:txBody>
      </p:sp>
      <p:sp>
        <p:nvSpPr>
          <p:cNvPr id="23" name="Rounded Rectangle 22"/>
          <p:cNvSpPr/>
          <p:nvPr/>
        </p:nvSpPr>
        <p:spPr>
          <a:xfrm>
            <a:off x="6108192" y="3364991"/>
            <a:ext cx="2624328" cy="150876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91072" y="3529584"/>
            <a:ext cx="2258568" cy="365760"/>
          </a:xfrm>
          <a:prstGeom prst="rect">
            <a:avLst/>
          </a:prstGeom>
          <a:noFill/>
        </p:spPr>
        <p:txBody>
          <a:bodyPr wrap="square" anchor="t">
            <a:spAutoFit/>
          </a:bodyPr>
          <a:lstStyle/>
          <a:p>
            <a:pPr algn="l">
              <a:lnSpc>
                <a:spcPct val="100000"/>
              </a:lnSpc>
              <a:spcBef>
                <a:spcPts val="0"/>
              </a:spcBef>
              <a:spcAft>
                <a:spcPts val="400"/>
              </a:spcAft>
            </a:pPr>
            <a:r>
              <a:rPr sz="1500" b="1" i="0">
                <a:solidFill>
                  <a:srgbClr val="0078D4"/>
                </a:solidFill>
                <a:latin typeface="Segoe UI"/>
              </a:rPr>
              <a:t>LangSmith</a:t>
            </a:r>
          </a:p>
        </p:txBody>
      </p:sp>
      <p:sp>
        <p:nvSpPr>
          <p:cNvPr id="25" name="TextBox 24"/>
          <p:cNvSpPr txBox="1"/>
          <p:nvPr/>
        </p:nvSpPr>
        <p:spPr>
          <a:xfrm>
            <a:off x="6291072" y="3931920"/>
            <a:ext cx="2258568" cy="822960"/>
          </a:xfrm>
          <a:prstGeom prst="rect">
            <a:avLst/>
          </a:prstGeom>
          <a:noFill/>
        </p:spPr>
        <p:txBody>
          <a:bodyPr wrap="square" anchor="t">
            <a:spAutoFit/>
          </a:bodyPr>
          <a:lstStyle/>
          <a:p>
            <a:pPr algn="l">
              <a:lnSpc>
                <a:spcPct val="103000"/>
              </a:lnSpc>
              <a:spcBef>
                <a:spcPts val="0"/>
              </a:spcBef>
              <a:spcAft>
                <a:spcPts val="400"/>
              </a:spcAft>
            </a:pPr>
            <a:r>
              <a:rPr sz="1200" b="0" i="0">
                <a:solidFill>
                  <a:srgbClr val="5B6B7B"/>
                </a:solidFill>
                <a:latin typeface="Segoe UI"/>
              </a:rPr>
              <a:t>Opt-in tracing and evaluation with secret redaction.</a:t>
            </a:r>
          </a:p>
        </p:txBody>
      </p:sp>
      <p:sp>
        <p:nvSpPr>
          <p:cNvPr id="26" name="Rounded Rectangle 25"/>
          <p:cNvSpPr/>
          <p:nvPr/>
        </p:nvSpPr>
        <p:spPr>
          <a:xfrm>
            <a:off x="8842248" y="3364991"/>
            <a:ext cx="2624328" cy="150876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25128" y="3529584"/>
            <a:ext cx="2258568" cy="365760"/>
          </a:xfrm>
          <a:prstGeom prst="rect">
            <a:avLst/>
          </a:prstGeom>
          <a:noFill/>
        </p:spPr>
        <p:txBody>
          <a:bodyPr wrap="square" anchor="t">
            <a:spAutoFit/>
          </a:bodyPr>
          <a:lstStyle/>
          <a:p>
            <a:pPr algn="l">
              <a:lnSpc>
                <a:spcPct val="100000"/>
              </a:lnSpc>
              <a:spcBef>
                <a:spcPts val="0"/>
              </a:spcBef>
              <a:spcAft>
                <a:spcPts val="400"/>
              </a:spcAft>
            </a:pPr>
            <a:r>
              <a:rPr sz="1500" b="1" i="0">
                <a:solidFill>
                  <a:srgbClr val="0078D4"/>
                </a:solidFill>
                <a:latin typeface="Segoe UI"/>
              </a:rPr>
              <a:t>Python + pytest</a:t>
            </a:r>
          </a:p>
        </p:txBody>
      </p:sp>
      <p:sp>
        <p:nvSpPr>
          <p:cNvPr id="28" name="TextBox 27"/>
          <p:cNvSpPr txBox="1"/>
          <p:nvPr/>
        </p:nvSpPr>
        <p:spPr>
          <a:xfrm>
            <a:off x="9025128" y="3931920"/>
            <a:ext cx="2258568" cy="822960"/>
          </a:xfrm>
          <a:prstGeom prst="rect">
            <a:avLst/>
          </a:prstGeom>
          <a:noFill/>
        </p:spPr>
        <p:txBody>
          <a:bodyPr wrap="square" anchor="t">
            <a:spAutoFit/>
          </a:bodyPr>
          <a:lstStyle/>
          <a:p>
            <a:pPr algn="l">
              <a:lnSpc>
                <a:spcPct val="103000"/>
              </a:lnSpc>
              <a:spcBef>
                <a:spcPts val="0"/>
              </a:spcBef>
              <a:spcAft>
                <a:spcPts val="400"/>
              </a:spcAft>
            </a:pPr>
            <a:r>
              <a:rPr sz="1200" b="0" i="0">
                <a:solidFill>
                  <a:srgbClr val="5B6B7B"/>
                </a:solidFill>
                <a:latin typeface="Segoe UI"/>
              </a:rPr>
              <a:t>Deterministic nodes and guardrails, fully testable.</a:t>
            </a:r>
          </a:p>
        </p:txBody>
      </p:sp>
      <p:sp>
        <p:nvSpPr>
          <p:cNvPr id="29" name="TextBox 28"/>
          <p:cNvSpPr txBox="1"/>
          <p:nvPr/>
        </p:nvSpPr>
        <p:spPr>
          <a:xfrm>
            <a:off x="640080" y="5212080"/>
            <a:ext cx="10881360" cy="640080"/>
          </a:xfrm>
          <a:prstGeom prst="rect">
            <a:avLst/>
          </a:prstGeom>
          <a:noFill/>
        </p:spPr>
        <p:txBody>
          <a:bodyPr wrap="square" anchor="t">
            <a:spAutoFit/>
          </a:bodyPr>
          <a:lstStyle/>
          <a:p>
            <a:pPr algn="l">
              <a:lnSpc>
                <a:spcPct val="110000"/>
              </a:lnSpc>
              <a:spcBef>
                <a:spcPts val="0"/>
              </a:spcBef>
              <a:spcAft>
                <a:spcPts val="400"/>
              </a:spcAft>
            </a:pPr>
            <a:r>
              <a:rPr sz="1400" b="0" i="0">
                <a:solidFill>
                  <a:srgbClr val="5B6B7B"/>
                </a:solidFill>
                <a:latin typeface="Segoe UI"/>
              </a:rPr>
              <a:t>Persistence is simple flat files — per-run artifacts, a history log, and a calibration report. No database required at this scale.</a:t>
            </a:r>
          </a:p>
        </p:txBody>
      </p:sp>
      <p:sp>
        <p:nvSpPr>
          <p:cNvPr id="30" name="Rectangle 29"/>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32" name="TextBox 31"/>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14 · Tech Stack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SUMMARY</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Why this approach works</a:t>
            </a:r>
          </a:p>
        </p:txBody>
      </p:sp>
      <p:sp>
        <p:nvSpPr>
          <p:cNvPr id="5" name="Rounded Rectangle 4"/>
          <p:cNvSpPr/>
          <p:nvPr/>
        </p:nvSpPr>
        <p:spPr>
          <a:xfrm>
            <a:off x="640080" y="1691640"/>
            <a:ext cx="3456432" cy="137160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3456432" cy="640080"/>
          </a:xfrm>
          <a:prstGeom prst="rect">
            <a:avLst/>
          </a:prstGeom>
          <a:noFill/>
        </p:spPr>
        <p:txBody>
          <a:bodyPr wrap="square" anchor="t">
            <a:spAutoFit/>
          </a:bodyPr>
          <a:lstStyle/>
          <a:p>
            <a:pPr algn="ctr">
              <a:lnSpc>
                <a:spcPct val="100000"/>
              </a:lnSpc>
              <a:spcBef>
                <a:spcPts val="0"/>
              </a:spcBef>
              <a:spcAft>
                <a:spcPts val="400"/>
              </a:spcAft>
            </a:pPr>
            <a:r>
              <a:rPr sz="4000" b="1" i="0">
                <a:solidFill>
                  <a:srgbClr val="0078D4"/>
                </a:solidFill>
                <a:latin typeface="Segoe UI"/>
              </a:rPr>
              <a:t>7</a:t>
            </a:r>
          </a:p>
        </p:txBody>
      </p:sp>
      <p:sp>
        <p:nvSpPr>
          <p:cNvPr id="7" name="TextBox 6"/>
          <p:cNvSpPr txBox="1"/>
          <p:nvPr/>
        </p:nvSpPr>
        <p:spPr>
          <a:xfrm>
            <a:off x="822959" y="2606040"/>
            <a:ext cx="3090672" cy="457200"/>
          </a:xfrm>
          <a:prstGeom prst="rect">
            <a:avLst/>
          </a:prstGeom>
          <a:noFill/>
        </p:spPr>
        <p:txBody>
          <a:bodyPr wrap="square" anchor="t">
            <a:spAutoFit/>
          </a:bodyPr>
          <a:lstStyle/>
          <a:p>
            <a:pPr algn="ctr">
              <a:lnSpc>
                <a:spcPct val="100000"/>
              </a:lnSpc>
              <a:spcBef>
                <a:spcPts val="0"/>
              </a:spcBef>
              <a:spcAft>
                <a:spcPts val="400"/>
              </a:spcAft>
            </a:pPr>
            <a:r>
              <a:rPr sz="1250" b="0" i="0">
                <a:solidFill>
                  <a:srgbClr val="5B6B7B"/>
                </a:solidFill>
                <a:latin typeface="Segoe UI"/>
              </a:rPr>
              <a:t>agents in one LangGraph pipeline</a:t>
            </a:r>
          </a:p>
        </p:txBody>
      </p:sp>
      <p:sp>
        <p:nvSpPr>
          <p:cNvPr id="8" name="Rounded Rectangle 7"/>
          <p:cNvSpPr/>
          <p:nvPr/>
        </p:nvSpPr>
        <p:spPr>
          <a:xfrm>
            <a:off x="4352544" y="1691640"/>
            <a:ext cx="3456432" cy="137160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52544" y="1828800"/>
            <a:ext cx="3456432" cy="640080"/>
          </a:xfrm>
          <a:prstGeom prst="rect">
            <a:avLst/>
          </a:prstGeom>
          <a:noFill/>
        </p:spPr>
        <p:txBody>
          <a:bodyPr wrap="square" anchor="t">
            <a:spAutoFit/>
          </a:bodyPr>
          <a:lstStyle/>
          <a:p>
            <a:pPr algn="ctr">
              <a:lnSpc>
                <a:spcPct val="100000"/>
              </a:lnSpc>
              <a:spcBef>
                <a:spcPts val="0"/>
              </a:spcBef>
              <a:spcAft>
                <a:spcPts val="400"/>
              </a:spcAft>
            </a:pPr>
            <a:r>
              <a:rPr sz="4000" b="1" i="0">
                <a:solidFill>
                  <a:srgbClr val="FF9900"/>
                </a:solidFill>
                <a:latin typeface="Segoe UI"/>
              </a:rPr>
              <a:t>1</a:t>
            </a:r>
          </a:p>
        </p:txBody>
      </p:sp>
      <p:sp>
        <p:nvSpPr>
          <p:cNvPr id="10" name="TextBox 9"/>
          <p:cNvSpPr txBox="1"/>
          <p:nvPr/>
        </p:nvSpPr>
        <p:spPr>
          <a:xfrm>
            <a:off x="4535424" y="2606040"/>
            <a:ext cx="3090672" cy="457200"/>
          </a:xfrm>
          <a:prstGeom prst="rect">
            <a:avLst/>
          </a:prstGeom>
          <a:noFill/>
        </p:spPr>
        <p:txBody>
          <a:bodyPr wrap="square" anchor="t">
            <a:spAutoFit/>
          </a:bodyPr>
          <a:lstStyle/>
          <a:p>
            <a:pPr algn="ctr">
              <a:lnSpc>
                <a:spcPct val="100000"/>
              </a:lnSpc>
              <a:spcBef>
                <a:spcPts val="0"/>
              </a:spcBef>
              <a:spcAft>
                <a:spcPts val="400"/>
              </a:spcAft>
            </a:pPr>
            <a:r>
              <a:rPr sz="1250" b="0" i="0">
                <a:solidFill>
                  <a:srgbClr val="5B6B7B"/>
                </a:solidFill>
                <a:latin typeface="Segoe UI"/>
              </a:rPr>
              <a:t>LLM reasoning step — everything else deterministic</a:t>
            </a:r>
          </a:p>
        </p:txBody>
      </p:sp>
      <p:sp>
        <p:nvSpPr>
          <p:cNvPr id="11" name="Rounded Rectangle 10"/>
          <p:cNvSpPr/>
          <p:nvPr/>
        </p:nvSpPr>
        <p:spPr>
          <a:xfrm>
            <a:off x="8065008" y="1691640"/>
            <a:ext cx="3456432" cy="137160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65008" y="1828800"/>
            <a:ext cx="3456432" cy="640080"/>
          </a:xfrm>
          <a:prstGeom prst="rect">
            <a:avLst/>
          </a:prstGeom>
          <a:noFill/>
        </p:spPr>
        <p:txBody>
          <a:bodyPr wrap="square" anchor="t">
            <a:spAutoFit/>
          </a:bodyPr>
          <a:lstStyle/>
          <a:p>
            <a:pPr algn="ctr">
              <a:lnSpc>
                <a:spcPct val="100000"/>
              </a:lnSpc>
              <a:spcBef>
                <a:spcPts val="0"/>
              </a:spcBef>
              <a:spcAft>
                <a:spcPts val="400"/>
              </a:spcAft>
            </a:pPr>
            <a:r>
              <a:rPr sz="4000" b="1" i="0">
                <a:solidFill>
                  <a:srgbClr val="0078D4"/>
                </a:solidFill>
                <a:latin typeface="Segoe UI"/>
              </a:rPr>
              <a:t>1</a:t>
            </a:r>
          </a:p>
        </p:txBody>
      </p:sp>
      <p:sp>
        <p:nvSpPr>
          <p:cNvPr id="13" name="TextBox 12"/>
          <p:cNvSpPr txBox="1"/>
          <p:nvPr/>
        </p:nvSpPr>
        <p:spPr>
          <a:xfrm>
            <a:off x="8247888" y="2606040"/>
            <a:ext cx="3090672" cy="457200"/>
          </a:xfrm>
          <a:prstGeom prst="rect">
            <a:avLst/>
          </a:prstGeom>
          <a:noFill/>
        </p:spPr>
        <p:txBody>
          <a:bodyPr wrap="square" anchor="t">
            <a:spAutoFit/>
          </a:bodyPr>
          <a:lstStyle/>
          <a:p>
            <a:pPr algn="ctr">
              <a:lnSpc>
                <a:spcPct val="100000"/>
              </a:lnSpc>
              <a:spcBef>
                <a:spcPts val="0"/>
              </a:spcBef>
              <a:spcAft>
                <a:spcPts val="400"/>
              </a:spcAft>
            </a:pPr>
            <a:r>
              <a:rPr sz="1250" b="0" i="0">
                <a:solidFill>
                  <a:srgbClr val="5B6B7B"/>
                </a:solidFill>
                <a:latin typeface="Segoe UI"/>
              </a:rPr>
              <a:t>human decision point before AWS is touched</a:t>
            </a:r>
          </a:p>
        </p:txBody>
      </p:sp>
      <p:sp>
        <p:nvSpPr>
          <p:cNvPr id="14" name="TextBox 13"/>
          <p:cNvSpPr txBox="1"/>
          <p:nvPr/>
        </p:nvSpPr>
        <p:spPr>
          <a:xfrm>
            <a:off x="640080" y="3383280"/>
            <a:ext cx="10881360" cy="2103120"/>
          </a:xfrm>
          <a:prstGeom prst="rect">
            <a:avLst/>
          </a:prstGeom>
          <a:noFill/>
        </p:spPr>
        <p:txBody>
          <a:bodyPr wrap="square" anchor="t">
            <a:spAutoFit/>
          </a:bodyPr>
          <a:lstStyle/>
          <a:p>
            <a:pPr algn="l">
              <a:lnSpc>
                <a:spcPct val="105000"/>
              </a:lnSpc>
              <a:spcBef>
                <a:spcPts val="0"/>
              </a:spcBef>
              <a:spcAft>
                <a:spcPts val="1000"/>
              </a:spcAft>
            </a:pPr>
            <a:r>
              <a:rPr sz="1550" b="1" i="0">
                <a:solidFill>
                  <a:srgbClr val="0078D4"/>
                </a:solidFill>
                <a:latin typeface="Segoe UI"/>
              </a:rPr>
              <a:t>•  </a:t>
            </a:r>
            <a:r>
              <a:rPr sz="1550" b="1" i="0">
                <a:solidFill>
                  <a:srgbClr val="1B2733"/>
                </a:solidFill>
                <a:latin typeface="Segoe UI"/>
              </a:rPr>
              <a:t>Auditable: </a:t>
            </a:r>
            <a:r>
              <a:rPr sz="1550" b="0" i="0">
                <a:solidFill>
                  <a:srgbClr val="1B2733"/>
                </a:solidFill>
                <a:latin typeface="Segoe UI"/>
              </a:rPr>
              <a:t>structured plans and per-run artifacts make every decision reviewable.</a:t>
            </a:r>
          </a:p>
          <a:p>
            <a:pPr algn="l">
              <a:lnSpc>
                <a:spcPct val="105000"/>
              </a:lnSpc>
              <a:spcBef>
                <a:spcPts val="0"/>
              </a:spcBef>
              <a:spcAft>
                <a:spcPts val="1000"/>
              </a:spcAft>
            </a:pPr>
            <a:r>
              <a:rPr sz="1550" b="1" i="0">
                <a:solidFill>
                  <a:srgbClr val="0078D4"/>
                </a:solidFill>
                <a:latin typeface="Segoe UI"/>
              </a:rPr>
              <a:t>•  </a:t>
            </a:r>
            <a:r>
              <a:rPr sz="1550" b="1" i="0">
                <a:solidFill>
                  <a:srgbClr val="1B2733"/>
                </a:solidFill>
                <a:latin typeface="Segoe UI"/>
              </a:rPr>
              <a:t>Safe: </a:t>
            </a:r>
            <a:r>
              <a:rPr sz="1550" b="0" i="0">
                <a:solidFill>
                  <a:srgbClr val="1B2733"/>
                </a:solidFill>
                <a:latin typeface="Segoe UI"/>
              </a:rPr>
              <a:t>automatic plan review and guardrail scanning, a stack-conflict gate, and secret protection guard every deploy.</a:t>
            </a:r>
          </a:p>
          <a:p>
            <a:pPr algn="l">
              <a:lnSpc>
                <a:spcPct val="105000"/>
              </a:lnSpc>
              <a:spcBef>
                <a:spcPts val="0"/>
              </a:spcBef>
              <a:spcAft>
                <a:spcPts val="1000"/>
              </a:spcAft>
            </a:pPr>
            <a:r>
              <a:rPr sz="1550" b="1" i="0">
                <a:solidFill>
                  <a:srgbClr val="0078D4"/>
                </a:solidFill>
                <a:latin typeface="Segoe UI"/>
              </a:rPr>
              <a:t>•  </a:t>
            </a:r>
            <a:r>
              <a:rPr sz="1550" b="1" i="0">
                <a:solidFill>
                  <a:srgbClr val="1B2733"/>
                </a:solidFill>
                <a:latin typeface="Segoe UI"/>
              </a:rPr>
              <a:t>Reliable: </a:t>
            </a:r>
            <a:r>
              <a:rPr sz="1550" b="0" i="0">
                <a:solidFill>
                  <a:srgbClr val="1B2733"/>
                </a:solidFill>
                <a:latin typeface="Segoe UI"/>
              </a:rPr>
              <a:t>self-correction plus calibration metrics keep quality measurable over time.</a:t>
            </a:r>
          </a:p>
          <a:p>
            <a:pPr algn="l">
              <a:lnSpc>
                <a:spcPct val="105000"/>
              </a:lnSpc>
              <a:spcBef>
                <a:spcPts val="0"/>
              </a:spcBef>
              <a:spcAft>
                <a:spcPts val="1000"/>
              </a:spcAft>
            </a:pPr>
            <a:r>
              <a:rPr sz="1550" b="1" i="0">
                <a:solidFill>
                  <a:srgbClr val="0078D4"/>
                </a:solidFill>
                <a:latin typeface="Segoe UI"/>
              </a:rPr>
              <a:t>•  </a:t>
            </a:r>
            <a:r>
              <a:rPr sz="1550" b="1" i="0">
                <a:solidFill>
                  <a:srgbClr val="1B2733"/>
                </a:solidFill>
                <a:latin typeface="Segoe UI"/>
              </a:rPr>
              <a:t>Extensible: </a:t>
            </a:r>
            <a:r>
              <a:rPr sz="1550" b="0" i="0">
                <a:solidFill>
                  <a:srgbClr val="1B2733"/>
                </a:solidFill>
                <a:latin typeface="Segoe UI"/>
              </a:rPr>
              <a:t>a seed-and-grow knowledge base adds new resource families incrementally.</a:t>
            </a:r>
          </a:p>
        </p:txBody>
      </p:sp>
      <p:sp>
        <p:nvSpPr>
          <p:cNvPr id="15" name="TextBox 14"/>
          <p:cNvSpPr txBox="1"/>
          <p:nvPr/>
        </p:nvSpPr>
        <p:spPr>
          <a:xfrm>
            <a:off x="640080" y="5577840"/>
            <a:ext cx="10881360" cy="548640"/>
          </a:xfrm>
          <a:prstGeom prst="rect">
            <a:avLst/>
          </a:prstGeom>
          <a:noFill/>
        </p:spPr>
        <p:txBody>
          <a:bodyPr wrap="square" anchor="t">
            <a:spAutoFit/>
          </a:bodyPr>
          <a:lstStyle/>
          <a:p>
            <a:pPr algn="l">
              <a:lnSpc>
                <a:spcPct val="100000"/>
              </a:lnSpc>
              <a:spcBef>
                <a:spcPts val="0"/>
              </a:spcBef>
              <a:spcAft>
                <a:spcPts val="400"/>
              </a:spcAft>
            </a:pPr>
            <a:r>
              <a:rPr sz="1800" b="1" i="0">
                <a:solidFill>
                  <a:srgbClr val="1B2733"/>
                </a:solidFill>
                <a:latin typeface="Segoe UI"/>
              </a:rPr>
              <a:t>A practical, trustworthy path from Azure Bicep to AWS CloudFormation.</a:t>
            </a:r>
          </a:p>
        </p:txBody>
      </p:sp>
      <p:sp>
        <p:nvSpPr>
          <p:cNvPr id="16" name="Rectangle 15"/>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18" name="TextBox 17"/>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15 · 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